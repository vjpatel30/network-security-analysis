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10.xml" ContentType="application/vnd.openxmlformats-officedocument.presentationml.notesSlide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notesSlides/notesSlide11.xml" ContentType="application/vnd.openxmlformats-officedocument.presentationml.notesSlide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notesSlides/notesSlide12.xml" ContentType="application/vnd.openxmlformats-officedocument.presentationml.notesSlide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notesSlides/notesSlide13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17"/>
  </p:notesMasterIdLst>
  <p:sldIdLst>
    <p:sldId id="256" r:id="rId2"/>
    <p:sldId id="257" r:id="rId3"/>
    <p:sldId id="266" r:id="rId4"/>
    <p:sldId id="258" r:id="rId5"/>
    <p:sldId id="267" r:id="rId6"/>
    <p:sldId id="259" r:id="rId7"/>
    <p:sldId id="268" r:id="rId8"/>
    <p:sldId id="269" r:id="rId9"/>
    <p:sldId id="260" r:id="rId10"/>
    <p:sldId id="261" r:id="rId11"/>
    <p:sldId id="262" r:id="rId12"/>
    <p:sldId id="263" r:id="rId13"/>
    <p:sldId id="270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9DEA7386-8C3E-D8B6-CE7C-9C6A619F9E8A}" name="Vedant Jigarkumar Patel" initials="VP" userId="S::vjpatel30@myseneca.ca::0ae6b6f1-5534-4482-8b0b-75a037c6a769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69" d="100"/>
          <a:sy n="69" d="100"/>
        </p:scale>
        <p:origin x="1200" y="6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8/10/relationships/authors" Target="authors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image" Target="../media/image1.svg"/></Relationships>
</file>

<file path=ppt/diagrams/_rels/data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svg"/><Relationship Id="rId1" Type="http://schemas.openxmlformats.org/officeDocument/2006/relationships/image" Target="../media/image8.svg"/></Relationships>
</file>

<file path=ppt/diagrams/_rels/data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svg"/><Relationship Id="rId1" Type="http://schemas.openxmlformats.org/officeDocument/2006/relationships/image" Target="../media/image10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image" Target="../media/image1.svg"/></Relationships>
</file>

<file path=ppt/diagrams/_rels/drawing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svg"/><Relationship Id="rId1" Type="http://schemas.openxmlformats.org/officeDocument/2006/relationships/image" Target="../media/image8.svg"/></Relationships>
</file>

<file path=ppt/diagrams/_rels/drawing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svg"/><Relationship Id="rId1" Type="http://schemas.openxmlformats.org/officeDocument/2006/relationships/image" Target="../media/image10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F93AA92-C4A2-44E7-9A29-2A7801427226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6C8BCD2F-6CB5-4552-AD45-FD7FB8894F7F}">
      <dgm:prSet/>
      <dgm:spPr/>
      <dgm:t>
        <a:bodyPr/>
        <a:lstStyle/>
        <a:p>
          <a:r>
            <a:rPr lang="en-US"/>
            <a:t>Used: sudo nmap -sU -p- 192.168.2.242</a:t>
          </a:r>
        </a:p>
      </dgm:t>
    </dgm:pt>
    <dgm:pt modelId="{4DA31660-0D75-40EE-BDC4-E278F73432E5}" type="parTrans" cxnId="{B3ECA753-4CA4-4C0A-87A0-07B1D420CBD8}">
      <dgm:prSet/>
      <dgm:spPr/>
      <dgm:t>
        <a:bodyPr/>
        <a:lstStyle/>
        <a:p>
          <a:endParaRPr lang="en-US"/>
        </a:p>
      </dgm:t>
    </dgm:pt>
    <dgm:pt modelId="{9D92531C-DDED-4467-829B-56B8B5C35FC8}" type="sibTrans" cxnId="{B3ECA753-4CA4-4C0A-87A0-07B1D420CBD8}">
      <dgm:prSet/>
      <dgm:spPr/>
      <dgm:t>
        <a:bodyPr/>
        <a:lstStyle/>
        <a:p>
          <a:endParaRPr lang="en-US"/>
        </a:p>
      </dgm:t>
    </dgm:pt>
    <dgm:pt modelId="{0C26063B-458F-43A0-A85C-3A93F4D7A5D1}">
      <dgm:prSet/>
      <dgm:spPr/>
      <dgm:t>
        <a:bodyPr/>
        <a:lstStyle/>
        <a:p>
          <a:r>
            <a:rPr lang="en-US"/>
            <a:t>Scans all 65,535 UDP ports</a:t>
          </a:r>
        </a:p>
      </dgm:t>
    </dgm:pt>
    <dgm:pt modelId="{1B075F8F-D3E6-4D1B-BD75-2ADE3FC36C9B}" type="parTrans" cxnId="{90A4B4B9-3560-4233-A53E-E476247B3C09}">
      <dgm:prSet/>
      <dgm:spPr/>
      <dgm:t>
        <a:bodyPr/>
        <a:lstStyle/>
        <a:p>
          <a:endParaRPr lang="en-US"/>
        </a:p>
      </dgm:t>
    </dgm:pt>
    <dgm:pt modelId="{C98E90A4-96DA-4B34-92D1-96279275FCB5}" type="sibTrans" cxnId="{90A4B4B9-3560-4233-A53E-E476247B3C09}">
      <dgm:prSet/>
      <dgm:spPr/>
      <dgm:t>
        <a:bodyPr/>
        <a:lstStyle/>
        <a:p>
          <a:endParaRPr lang="en-US"/>
        </a:p>
      </dgm:t>
    </dgm:pt>
    <dgm:pt modelId="{0E95974D-7E39-40D3-9BB0-7A1AEFB5EF8F}">
      <dgm:prSet/>
      <dgm:spPr/>
      <dgm:t>
        <a:bodyPr/>
        <a:lstStyle/>
        <a:p>
          <a:r>
            <a:rPr lang="en-US"/>
            <a:t>UDP is stealthy (no handshake), harder to detect</a:t>
          </a:r>
        </a:p>
      </dgm:t>
    </dgm:pt>
    <dgm:pt modelId="{6A86069A-5599-46DD-A40F-DD7ADA263603}" type="parTrans" cxnId="{187A1E96-23F3-4359-B24E-9D17E7E1808F}">
      <dgm:prSet/>
      <dgm:spPr/>
      <dgm:t>
        <a:bodyPr/>
        <a:lstStyle/>
        <a:p>
          <a:endParaRPr lang="en-US"/>
        </a:p>
      </dgm:t>
    </dgm:pt>
    <dgm:pt modelId="{C8685C43-5329-41CB-A9F3-E2924C750C71}" type="sibTrans" cxnId="{187A1E96-23F3-4359-B24E-9D17E7E1808F}">
      <dgm:prSet/>
      <dgm:spPr/>
      <dgm:t>
        <a:bodyPr/>
        <a:lstStyle/>
        <a:p>
          <a:endParaRPr lang="en-US"/>
        </a:p>
      </dgm:t>
    </dgm:pt>
    <dgm:pt modelId="{3C603928-323A-44EF-9BB3-E4CCAA0A1C03}" type="pres">
      <dgm:prSet presAssocID="{FF93AA92-C4A2-44E7-9A29-2A7801427226}" presName="root" presStyleCnt="0">
        <dgm:presLayoutVars>
          <dgm:dir/>
          <dgm:resizeHandles val="exact"/>
        </dgm:presLayoutVars>
      </dgm:prSet>
      <dgm:spPr/>
    </dgm:pt>
    <dgm:pt modelId="{FFCFFEB1-877C-43EB-9C03-072E792D8B05}" type="pres">
      <dgm:prSet presAssocID="{6C8BCD2F-6CB5-4552-AD45-FD7FB8894F7F}" presName="compNode" presStyleCnt="0"/>
      <dgm:spPr/>
    </dgm:pt>
    <dgm:pt modelId="{99D3AE6C-F786-4BBB-809E-1208CACE3420}" type="pres">
      <dgm:prSet presAssocID="{6C8BCD2F-6CB5-4552-AD45-FD7FB8894F7F}" presName="bgRect" presStyleLbl="bgShp" presStyleIdx="0" presStyleCnt="3"/>
      <dgm:spPr/>
    </dgm:pt>
    <dgm:pt modelId="{5CD0FC20-575B-47BE-8E0C-645B9CEE6726}" type="pres">
      <dgm:prSet presAssocID="{6C8BCD2F-6CB5-4552-AD45-FD7FB8894F7F}" presName="iconRect" presStyleLbl="node1" presStyleIdx="0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mputer"/>
        </a:ext>
      </dgm:extLst>
    </dgm:pt>
    <dgm:pt modelId="{59951E26-F2AF-40E2-91AE-F1500AC77D4D}" type="pres">
      <dgm:prSet presAssocID="{6C8BCD2F-6CB5-4552-AD45-FD7FB8894F7F}" presName="spaceRect" presStyleCnt="0"/>
      <dgm:spPr/>
    </dgm:pt>
    <dgm:pt modelId="{143D249A-1DFF-461D-9F70-EE6B1F5B7A30}" type="pres">
      <dgm:prSet presAssocID="{6C8BCD2F-6CB5-4552-AD45-FD7FB8894F7F}" presName="parTx" presStyleLbl="revTx" presStyleIdx="0" presStyleCnt="3">
        <dgm:presLayoutVars>
          <dgm:chMax val="0"/>
          <dgm:chPref val="0"/>
        </dgm:presLayoutVars>
      </dgm:prSet>
      <dgm:spPr/>
    </dgm:pt>
    <dgm:pt modelId="{F067AC69-9F45-4591-B945-A4C046116EC2}" type="pres">
      <dgm:prSet presAssocID="{9D92531C-DDED-4467-829B-56B8B5C35FC8}" presName="sibTrans" presStyleCnt="0"/>
      <dgm:spPr/>
    </dgm:pt>
    <dgm:pt modelId="{AF9551A1-1C3D-45CC-8079-009A2AC0AD0C}" type="pres">
      <dgm:prSet presAssocID="{0C26063B-458F-43A0-A85C-3A93F4D7A5D1}" presName="compNode" presStyleCnt="0"/>
      <dgm:spPr/>
    </dgm:pt>
    <dgm:pt modelId="{78F7CB5A-8E8E-43A6-A998-147922A089B1}" type="pres">
      <dgm:prSet presAssocID="{0C26063B-458F-43A0-A85C-3A93F4D7A5D1}" presName="bgRect" presStyleLbl="bgShp" presStyleIdx="1" presStyleCnt="3"/>
      <dgm:spPr/>
    </dgm:pt>
    <dgm:pt modelId="{92E82FA9-1B1A-4185-BE71-F9B8BE4F22AF}" type="pres">
      <dgm:prSet presAssocID="{0C26063B-458F-43A0-A85C-3A93F4D7A5D1}" presName="iconRect" presStyleLbl="node1" presStyleIdx="1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B42E41F7-CBA4-4D1A-A287-7D3EC7200082}" type="pres">
      <dgm:prSet presAssocID="{0C26063B-458F-43A0-A85C-3A93F4D7A5D1}" presName="spaceRect" presStyleCnt="0"/>
      <dgm:spPr/>
    </dgm:pt>
    <dgm:pt modelId="{82B753D6-0F5C-452B-8179-A8A0FAD82D36}" type="pres">
      <dgm:prSet presAssocID="{0C26063B-458F-43A0-A85C-3A93F4D7A5D1}" presName="parTx" presStyleLbl="revTx" presStyleIdx="1" presStyleCnt="3">
        <dgm:presLayoutVars>
          <dgm:chMax val="0"/>
          <dgm:chPref val="0"/>
        </dgm:presLayoutVars>
      </dgm:prSet>
      <dgm:spPr/>
    </dgm:pt>
    <dgm:pt modelId="{42D1C876-3D5F-415D-9B22-2DCE820B2E2C}" type="pres">
      <dgm:prSet presAssocID="{C98E90A4-96DA-4B34-92D1-96279275FCB5}" presName="sibTrans" presStyleCnt="0"/>
      <dgm:spPr/>
    </dgm:pt>
    <dgm:pt modelId="{188C1396-D4B2-46DF-85BB-043045C16197}" type="pres">
      <dgm:prSet presAssocID="{0E95974D-7E39-40D3-9BB0-7A1AEFB5EF8F}" presName="compNode" presStyleCnt="0"/>
      <dgm:spPr/>
    </dgm:pt>
    <dgm:pt modelId="{2CDE9772-8CAE-463B-BFA7-00D14EA482BF}" type="pres">
      <dgm:prSet presAssocID="{0E95974D-7E39-40D3-9BB0-7A1AEFB5EF8F}" presName="bgRect" presStyleLbl="bgShp" presStyleIdx="2" presStyleCnt="3"/>
      <dgm:spPr/>
    </dgm:pt>
    <dgm:pt modelId="{8B1F64F8-76B6-4019-915E-8B13F4FC7403}" type="pres">
      <dgm:prSet presAssocID="{0E95974D-7E39-40D3-9BB0-7A1AEFB5EF8F}" presName="iconRect" presStyleLbl="node1" presStyleIdx="2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andshake"/>
        </a:ext>
      </dgm:extLst>
    </dgm:pt>
    <dgm:pt modelId="{57255ADB-D238-4EE0-BED5-D66E61A6C295}" type="pres">
      <dgm:prSet presAssocID="{0E95974D-7E39-40D3-9BB0-7A1AEFB5EF8F}" presName="spaceRect" presStyleCnt="0"/>
      <dgm:spPr/>
    </dgm:pt>
    <dgm:pt modelId="{016D27FC-BCE3-452C-951E-B26261E209AE}" type="pres">
      <dgm:prSet presAssocID="{0E95974D-7E39-40D3-9BB0-7A1AEFB5EF8F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AF196619-CC15-4585-88DE-6C7DF89A6387}" type="presOf" srcId="{FF93AA92-C4A2-44E7-9A29-2A7801427226}" destId="{3C603928-323A-44EF-9BB3-E4CCAA0A1C03}" srcOrd="0" destOrd="0" presId="urn:microsoft.com/office/officeart/2018/2/layout/IconVerticalSolidList"/>
    <dgm:cxn modelId="{B3ECA753-4CA4-4C0A-87A0-07B1D420CBD8}" srcId="{FF93AA92-C4A2-44E7-9A29-2A7801427226}" destId="{6C8BCD2F-6CB5-4552-AD45-FD7FB8894F7F}" srcOrd="0" destOrd="0" parTransId="{4DA31660-0D75-40EE-BDC4-E278F73432E5}" sibTransId="{9D92531C-DDED-4467-829B-56B8B5C35FC8}"/>
    <dgm:cxn modelId="{187A1E96-23F3-4359-B24E-9D17E7E1808F}" srcId="{FF93AA92-C4A2-44E7-9A29-2A7801427226}" destId="{0E95974D-7E39-40D3-9BB0-7A1AEFB5EF8F}" srcOrd="2" destOrd="0" parTransId="{6A86069A-5599-46DD-A40F-DD7ADA263603}" sibTransId="{C8685C43-5329-41CB-A9F3-E2924C750C71}"/>
    <dgm:cxn modelId="{2B5003A0-4F8B-4C8B-895B-37CF330131C3}" type="presOf" srcId="{6C8BCD2F-6CB5-4552-AD45-FD7FB8894F7F}" destId="{143D249A-1DFF-461D-9F70-EE6B1F5B7A30}" srcOrd="0" destOrd="0" presId="urn:microsoft.com/office/officeart/2018/2/layout/IconVerticalSolidList"/>
    <dgm:cxn modelId="{90A4B4B9-3560-4233-A53E-E476247B3C09}" srcId="{FF93AA92-C4A2-44E7-9A29-2A7801427226}" destId="{0C26063B-458F-43A0-A85C-3A93F4D7A5D1}" srcOrd="1" destOrd="0" parTransId="{1B075F8F-D3E6-4D1B-BD75-2ADE3FC36C9B}" sibTransId="{C98E90A4-96DA-4B34-92D1-96279275FCB5}"/>
    <dgm:cxn modelId="{9088E2E6-3AE1-4D1A-A7C3-94F20332EA58}" type="presOf" srcId="{0C26063B-458F-43A0-A85C-3A93F4D7A5D1}" destId="{82B753D6-0F5C-452B-8179-A8A0FAD82D36}" srcOrd="0" destOrd="0" presId="urn:microsoft.com/office/officeart/2018/2/layout/IconVerticalSolidList"/>
    <dgm:cxn modelId="{6CBE69EF-6DC6-418E-AA8C-138BEB015566}" type="presOf" srcId="{0E95974D-7E39-40D3-9BB0-7A1AEFB5EF8F}" destId="{016D27FC-BCE3-452C-951E-B26261E209AE}" srcOrd="0" destOrd="0" presId="urn:microsoft.com/office/officeart/2018/2/layout/IconVerticalSolidList"/>
    <dgm:cxn modelId="{7F59EE75-6BF3-48F8-BC1C-F45640C0FE07}" type="presParOf" srcId="{3C603928-323A-44EF-9BB3-E4CCAA0A1C03}" destId="{FFCFFEB1-877C-43EB-9C03-072E792D8B05}" srcOrd="0" destOrd="0" presId="urn:microsoft.com/office/officeart/2018/2/layout/IconVerticalSolidList"/>
    <dgm:cxn modelId="{F87EBC03-8A54-4AA6-9559-D5448A09CDEA}" type="presParOf" srcId="{FFCFFEB1-877C-43EB-9C03-072E792D8B05}" destId="{99D3AE6C-F786-4BBB-809E-1208CACE3420}" srcOrd="0" destOrd="0" presId="urn:microsoft.com/office/officeart/2018/2/layout/IconVerticalSolidList"/>
    <dgm:cxn modelId="{1A013D6D-40FF-43DE-AD31-5A9E4BEAA56B}" type="presParOf" srcId="{FFCFFEB1-877C-43EB-9C03-072E792D8B05}" destId="{5CD0FC20-575B-47BE-8E0C-645B9CEE6726}" srcOrd="1" destOrd="0" presId="urn:microsoft.com/office/officeart/2018/2/layout/IconVerticalSolidList"/>
    <dgm:cxn modelId="{0898508D-3AAA-4FFC-897A-9E668CF104BD}" type="presParOf" srcId="{FFCFFEB1-877C-43EB-9C03-072E792D8B05}" destId="{59951E26-F2AF-40E2-91AE-F1500AC77D4D}" srcOrd="2" destOrd="0" presId="urn:microsoft.com/office/officeart/2018/2/layout/IconVerticalSolidList"/>
    <dgm:cxn modelId="{C8B493AE-166F-42FF-8008-EDF0F7FC5EF7}" type="presParOf" srcId="{FFCFFEB1-877C-43EB-9C03-072E792D8B05}" destId="{143D249A-1DFF-461D-9F70-EE6B1F5B7A30}" srcOrd="3" destOrd="0" presId="urn:microsoft.com/office/officeart/2018/2/layout/IconVerticalSolidList"/>
    <dgm:cxn modelId="{9107DE3E-16B0-4FBF-A3FC-821F5BEA1149}" type="presParOf" srcId="{3C603928-323A-44EF-9BB3-E4CCAA0A1C03}" destId="{F067AC69-9F45-4591-B945-A4C046116EC2}" srcOrd="1" destOrd="0" presId="urn:microsoft.com/office/officeart/2018/2/layout/IconVerticalSolidList"/>
    <dgm:cxn modelId="{9B71E76F-BF8E-472D-8615-C010D813ADAD}" type="presParOf" srcId="{3C603928-323A-44EF-9BB3-E4CCAA0A1C03}" destId="{AF9551A1-1C3D-45CC-8079-009A2AC0AD0C}" srcOrd="2" destOrd="0" presId="urn:microsoft.com/office/officeart/2018/2/layout/IconVerticalSolidList"/>
    <dgm:cxn modelId="{BC5077D5-2B6B-4A07-8D91-99E38640C71D}" type="presParOf" srcId="{AF9551A1-1C3D-45CC-8079-009A2AC0AD0C}" destId="{78F7CB5A-8E8E-43A6-A998-147922A089B1}" srcOrd="0" destOrd="0" presId="urn:microsoft.com/office/officeart/2018/2/layout/IconVerticalSolidList"/>
    <dgm:cxn modelId="{2E7FD0AD-9BD3-4DB6-961C-9582705102EF}" type="presParOf" srcId="{AF9551A1-1C3D-45CC-8079-009A2AC0AD0C}" destId="{92E82FA9-1B1A-4185-BE71-F9B8BE4F22AF}" srcOrd="1" destOrd="0" presId="urn:microsoft.com/office/officeart/2018/2/layout/IconVerticalSolidList"/>
    <dgm:cxn modelId="{4518AA51-5634-41C2-B056-A1AD07690562}" type="presParOf" srcId="{AF9551A1-1C3D-45CC-8079-009A2AC0AD0C}" destId="{B42E41F7-CBA4-4D1A-A287-7D3EC7200082}" srcOrd="2" destOrd="0" presId="urn:microsoft.com/office/officeart/2018/2/layout/IconVerticalSolidList"/>
    <dgm:cxn modelId="{60C72D54-8E75-46AE-9D9B-7EA5D2867CE0}" type="presParOf" srcId="{AF9551A1-1C3D-45CC-8079-009A2AC0AD0C}" destId="{82B753D6-0F5C-452B-8179-A8A0FAD82D36}" srcOrd="3" destOrd="0" presId="urn:microsoft.com/office/officeart/2018/2/layout/IconVerticalSolidList"/>
    <dgm:cxn modelId="{CD6F5667-25FC-4241-BB44-F307F727BC3F}" type="presParOf" srcId="{3C603928-323A-44EF-9BB3-E4CCAA0A1C03}" destId="{42D1C876-3D5F-415D-9B22-2DCE820B2E2C}" srcOrd="3" destOrd="0" presId="urn:microsoft.com/office/officeart/2018/2/layout/IconVerticalSolidList"/>
    <dgm:cxn modelId="{CD4532E4-79A6-4A9E-900E-3C48ACC1F0AD}" type="presParOf" srcId="{3C603928-323A-44EF-9BB3-E4CCAA0A1C03}" destId="{188C1396-D4B2-46DF-85BB-043045C16197}" srcOrd="4" destOrd="0" presId="urn:microsoft.com/office/officeart/2018/2/layout/IconVerticalSolidList"/>
    <dgm:cxn modelId="{70443CBF-37D2-485B-A937-D292CDCC3C83}" type="presParOf" srcId="{188C1396-D4B2-46DF-85BB-043045C16197}" destId="{2CDE9772-8CAE-463B-BFA7-00D14EA482BF}" srcOrd="0" destOrd="0" presId="urn:microsoft.com/office/officeart/2018/2/layout/IconVerticalSolidList"/>
    <dgm:cxn modelId="{832ACEFF-7844-41A6-9117-58C7940A7D00}" type="presParOf" srcId="{188C1396-D4B2-46DF-85BB-043045C16197}" destId="{8B1F64F8-76B6-4019-915E-8B13F4FC7403}" srcOrd="1" destOrd="0" presId="urn:microsoft.com/office/officeart/2018/2/layout/IconVerticalSolidList"/>
    <dgm:cxn modelId="{FD1EA8A2-AEA4-42F9-A893-F18293AF4F85}" type="presParOf" srcId="{188C1396-D4B2-46DF-85BB-043045C16197}" destId="{57255ADB-D238-4EE0-BED5-D66E61A6C295}" srcOrd="2" destOrd="0" presId="urn:microsoft.com/office/officeart/2018/2/layout/IconVerticalSolidList"/>
    <dgm:cxn modelId="{E3190E0C-5E6A-4E5D-89F9-7866E53AA88C}" type="presParOf" srcId="{188C1396-D4B2-46DF-85BB-043045C16197}" destId="{016D27FC-BCE3-452C-951E-B26261E209AE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B25C517A-48A0-4F04-8992-BF9F9282C1FF}" type="doc">
      <dgm:prSet loTypeId="urn:microsoft.com/office/officeart/2005/8/layout/vProcess5" loCatId="process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2AFF3B90-C982-4ECC-B642-00F637F8E45F}">
      <dgm:prSet/>
      <dgm:spPr/>
      <dgm:t>
        <a:bodyPr/>
        <a:lstStyle/>
        <a:p>
          <a:r>
            <a:rPr lang="en-US"/>
            <a:t>Wireshark filter used: udp</a:t>
          </a:r>
        </a:p>
      </dgm:t>
    </dgm:pt>
    <dgm:pt modelId="{0E919AF3-FEE0-4CD2-998D-653A4A6A2299}" type="parTrans" cxnId="{3247A570-A8CE-47C8-BC94-1B783B052A41}">
      <dgm:prSet/>
      <dgm:spPr/>
      <dgm:t>
        <a:bodyPr/>
        <a:lstStyle/>
        <a:p>
          <a:endParaRPr lang="en-US"/>
        </a:p>
      </dgm:t>
    </dgm:pt>
    <dgm:pt modelId="{CE3FE291-76AB-404E-B982-BB9A9D8317DD}" type="sibTrans" cxnId="{3247A570-A8CE-47C8-BC94-1B783B052A41}">
      <dgm:prSet/>
      <dgm:spPr/>
      <dgm:t>
        <a:bodyPr/>
        <a:lstStyle/>
        <a:p>
          <a:endParaRPr lang="en-US"/>
        </a:p>
      </dgm:t>
    </dgm:pt>
    <dgm:pt modelId="{B964B960-884C-4B7F-8399-42B84E0D4D85}">
      <dgm:prSet/>
      <dgm:spPr/>
      <dgm:t>
        <a:bodyPr/>
        <a:lstStyle/>
        <a:p>
          <a:r>
            <a:rPr lang="en-US"/>
            <a:t>Open ports often show no response</a:t>
          </a:r>
        </a:p>
      </dgm:t>
    </dgm:pt>
    <dgm:pt modelId="{00E7D025-BBC6-428F-B34C-07ABC89C4365}" type="parTrans" cxnId="{4C19BA9B-D405-468B-8D16-82D0E1C8200A}">
      <dgm:prSet/>
      <dgm:spPr/>
      <dgm:t>
        <a:bodyPr/>
        <a:lstStyle/>
        <a:p>
          <a:endParaRPr lang="en-US"/>
        </a:p>
      </dgm:t>
    </dgm:pt>
    <dgm:pt modelId="{516EDA72-2736-457D-BCF1-5DFE08B59F31}" type="sibTrans" cxnId="{4C19BA9B-D405-468B-8D16-82D0E1C8200A}">
      <dgm:prSet/>
      <dgm:spPr/>
      <dgm:t>
        <a:bodyPr/>
        <a:lstStyle/>
        <a:p>
          <a:endParaRPr lang="en-US"/>
        </a:p>
      </dgm:t>
    </dgm:pt>
    <dgm:pt modelId="{FCD40134-1433-4573-9C8D-B0E940F45625}">
      <dgm:prSet/>
      <dgm:spPr/>
      <dgm:t>
        <a:bodyPr/>
        <a:lstStyle/>
        <a:p>
          <a:r>
            <a:rPr lang="en-US"/>
            <a:t>Closed ports return ICMP 'port unreachable'</a:t>
          </a:r>
        </a:p>
      </dgm:t>
    </dgm:pt>
    <dgm:pt modelId="{A62BFD21-56BB-48DF-A9A7-3E547608A81B}" type="parTrans" cxnId="{4D2D1CA7-7AF0-4795-A303-EC327CE1DA3A}">
      <dgm:prSet/>
      <dgm:spPr/>
      <dgm:t>
        <a:bodyPr/>
        <a:lstStyle/>
        <a:p>
          <a:endParaRPr lang="en-US"/>
        </a:p>
      </dgm:t>
    </dgm:pt>
    <dgm:pt modelId="{F3F0A34E-583A-432C-8997-3AAB211FFFD2}" type="sibTrans" cxnId="{4D2D1CA7-7AF0-4795-A303-EC327CE1DA3A}">
      <dgm:prSet/>
      <dgm:spPr/>
      <dgm:t>
        <a:bodyPr/>
        <a:lstStyle/>
        <a:p>
          <a:endParaRPr lang="en-US"/>
        </a:p>
      </dgm:t>
    </dgm:pt>
    <dgm:pt modelId="{A9DA5F06-8566-49A1-B115-446D59AFE6FB}" type="pres">
      <dgm:prSet presAssocID="{B25C517A-48A0-4F04-8992-BF9F9282C1FF}" presName="outerComposite" presStyleCnt="0">
        <dgm:presLayoutVars>
          <dgm:chMax val="5"/>
          <dgm:dir/>
          <dgm:resizeHandles val="exact"/>
        </dgm:presLayoutVars>
      </dgm:prSet>
      <dgm:spPr/>
    </dgm:pt>
    <dgm:pt modelId="{87B7A24D-91DC-40F0-98E8-8DCD98573354}" type="pres">
      <dgm:prSet presAssocID="{B25C517A-48A0-4F04-8992-BF9F9282C1FF}" presName="dummyMaxCanvas" presStyleCnt="0">
        <dgm:presLayoutVars/>
      </dgm:prSet>
      <dgm:spPr/>
    </dgm:pt>
    <dgm:pt modelId="{D6BE2BFC-C0DC-46D9-9643-F8127BF5CB91}" type="pres">
      <dgm:prSet presAssocID="{B25C517A-48A0-4F04-8992-BF9F9282C1FF}" presName="ThreeNodes_1" presStyleLbl="node1" presStyleIdx="0" presStyleCnt="3">
        <dgm:presLayoutVars>
          <dgm:bulletEnabled val="1"/>
        </dgm:presLayoutVars>
      </dgm:prSet>
      <dgm:spPr/>
    </dgm:pt>
    <dgm:pt modelId="{73B2CC5D-ABFB-4255-8E9D-11ECDE148E01}" type="pres">
      <dgm:prSet presAssocID="{B25C517A-48A0-4F04-8992-BF9F9282C1FF}" presName="ThreeNodes_2" presStyleLbl="node1" presStyleIdx="1" presStyleCnt="3">
        <dgm:presLayoutVars>
          <dgm:bulletEnabled val="1"/>
        </dgm:presLayoutVars>
      </dgm:prSet>
      <dgm:spPr/>
    </dgm:pt>
    <dgm:pt modelId="{07A99F3B-9A39-4BA0-806A-A2FE33F17FF7}" type="pres">
      <dgm:prSet presAssocID="{B25C517A-48A0-4F04-8992-BF9F9282C1FF}" presName="ThreeNodes_3" presStyleLbl="node1" presStyleIdx="2" presStyleCnt="3">
        <dgm:presLayoutVars>
          <dgm:bulletEnabled val="1"/>
        </dgm:presLayoutVars>
      </dgm:prSet>
      <dgm:spPr/>
    </dgm:pt>
    <dgm:pt modelId="{2F391EED-EECC-44D3-BF25-CD8B25400934}" type="pres">
      <dgm:prSet presAssocID="{B25C517A-48A0-4F04-8992-BF9F9282C1FF}" presName="ThreeConn_1-2" presStyleLbl="fgAccFollowNode1" presStyleIdx="0" presStyleCnt="2">
        <dgm:presLayoutVars>
          <dgm:bulletEnabled val="1"/>
        </dgm:presLayoutVars>
      </dgm:prSet>
      <dgm:spPr/>
    </dgm:pt>
    <dgm:pt modelId="{AD226A23-4BF3-4D36-85F9-08F654477F29}" type="pres">
      <dgm:prSet presAssocID="{B25C517A-48A0-4F04-8992-BF9F9282C1FF}" presName="ThreeConn_2-3" presStyleLbl="fgAccFollowNode1" presStyleIdx="1" presStyleCnt="2">
        <dgm:presLayoutVars>
          <dgm:bulletEnabled val="1"/>
        </dgm:presLayoutVars>
      </dgm:prSet>
      <dgm:spPr/>
    </dgm:pt>
    <dgm:pt modelId="{8387DF45-68B9-4ECE-A0BC-EB776B07BD02}" type="pres">
      <dgm:prSet presAssocID="{B25C517A-48A0-4F04-8992-BF9F9282C1FF}" presName="ThreeNodes_1_text" presStyleLbl="node1" presStyleIdx="2" presStyleCnt="3">
        <dgm:presLayoutVars>
          <dgm:bulletEnabled val="1"/>
        </dgm:presLayoutVars>
      </dgm:prSet>
      <dgm:spPr/>
    </dgm:pt>
    <dgm:pt modelId="{07ED0710-6827-498A-B41D-B2AE4506ABF0}" type="pres">
      <dgm:prSet presAssocID="{B25C517A-48A0-4F04-8992-BF9F9282C1FF}" presName="ThreeNodes_2_text" presStyleLbl="node1" presStyleIdx="2" presStyleCnt="3">
        <dgm:presLayoutVars>
          <dgm:bulletEnabled val="1"/>
        </dgm:presLayoutVars>
      </dgm:prSet>
      <dgm:spPr/>
    </dgm:pt>
    <dgm:pt modelId="{3E3D6533-B753-46F8-BFE3-950A933BB1C0}" type="pres">
      <dgm:prSet presAssocID="{B25C517A-48A0-4F04-8992-BF9F9282C1FF}" presName="ThreeNodes_3_text" presStyleLbl="node1" presStyleIdx="2" presStyleCnt="3">
        <dgm:presLayoutVars>
          <dgm:bulletEnabled val="1"/>
        </dgm:presLayoutVars>
      </dgm:prSet>
      <dgm:spPr/>
    </dgm:pt>
  </dgm:ptLst>
  <dgm:cxnLst>
    <dgm:cxn modelId="{5749960F-D469-414C-86AB-30829D0D63C6}" type="presOf" srcId="{2AFF3B90-C982-4ECC-B642-00F637F8E45F}" destId="{D6BE2BFC-C0DC-46D9-9643-F8127BF5CB91}" srcOrd="0" destOrd="0" presId="urn:microsoft.com/office/officeart/2005/8/layout/vProcess5"/>
    <dgm:cxn modelId="{FA04B969-4FCB-4CDC-9E36-FD30A9E2252D}" type="presOf" srcId="{CE3FE291-76AB-404E-B982-BB9A9D8317DD}" destId="{2F391EED-EECC-44D3-BF25-CD8B25400934}" srcOrd="0" destOrd="0" presId="urn:microsoft.com/office/officeart/2005/8/layout/vProcess5"/>
    <dgm:cxn modelId="{56F1014E-2893-4996-A883-C4F162A624F9}" type="presOf" srcId="{FCD40134-1433-4573-9C8D-B0E940F45625}" destId="{3E3D6533-B753-46F8-BFE3-950A933BB1C0}" srcOrd="1" destOrd="0" presId="urn:microsoft.com/office/officeart/2005/8/layout/vProcess5"/>
    <dgm:cxn modelId="{3247A570-A8CE-47C8-BC94-1B783B052A41}" srcId="{B25C517A-48A0-4F04-8992-BF9F9282C1FF}" destId="{2AFF3B90-C982-4ECC-B642-00F637F8E45F}" srcOrd="0" destOrd="0" parTransId="{0E919AF3-FEE0-4CD2-998D-653A4A6A2299}" sibTransId="{CE3FE291-76AB-404E-B982-BB9A9D8317DD}"/>
    <dgm:cxn modelId="{148DA28B-6842-4C50-A0BF-A3EAF5132105}" type="presOf" srcId="{B25C517A-48A0-4F04-8992-BF9F9282C1FF}" destId="{A9DA5F06-8566-49A1-B115-446D59AFE6FB}" srcOrd="0" destOrd="0" presId="urn:microsoft.com/office/officeart/2005/8/layout/vProcess5"/>
    <dgm:cxn modelId="{E23FAE92-D40B-4A69-82E4-E3C9CF4A9604}" type="presOf" srcId="{B964B960-884C-4B7F-8399-42B84E0D4D85}" destId="{73B2CC5D-ABFB-4255-8E9D-11ECDE148E01}" srcOrd="0" destOrd="0" presId="urn:microsoft.com/office/officeart/2005/8/layout/vProcess5"/>
    <dgm:cxn modelId="{4C19BA9B-D405-468B-8D16-82D0E1C8200A}" srcId="{B25C517A-48A0-4F04-8992-BF9F9282C1FF}" destId="{B964B960-884C-4B7F-8399-42B84E0D4D85}" srcOrd="1" destOrd="0" parTransId="{00E7D025-BBC6-428F-B34C-07ABC89C4365}" sibTransId="{516EDA72-2736-457D-BCF1-5DFE08B59F31}"/>
    <dgm:cxn modelId="{4D2D1CA7-7AF0-4795-A303-EC327CE1DA3A}" srcId="{B25C517A-48A0-4F04-8992-BF9F9282C1FF}" destId="{FCD40134-1433-4573-9C8D-B0E940F45625}" srcOrd="2" destOrd="0" parTransId="{A62BFD21-56BB-48DF-A9A7-3E547608A81B}" sibTransId="{F3F0A34E-583A-432C-8997-3AAB211FFFD2}"/>
    <dgm:cxn modelId="{0CB134CB-1366-4534-A02F-171B60922DE6}" type="presOf" srcId="{2AFF3B90-C982-4ECC-B642-00F637F8E45F}" destId="{8387DF45-68B9-4ECE-A0BC-EB776B07BD02}" srcOrd="1" destOrd="0" presId="urn:microsoft.com/office/officeart/2005/8/layout/vProcess5"/>
    <dgm:cxn modelId="{BAACE0DB-C166-4179-AF9C-94A46326CBB2}" type="presOf" srcId="{FCD40134-1433-4573-9C8D-B0E940F45625}" destId="{07A99F3B-9A39-4BA0-806A-A2FE33F17FF7}" srcOrd="0" destOrd="0" presId="urn:microsoft.com/office/officeart/2005/8/layout/vProcess5"/>
    <dgm:cxn modelId="{7A8772E2-A994-4B13-A658-14BD5D554E7C}" type="presOf" srcId="{B964B960-884C-4B7F-8399-42B84E0D4D85}" destId="{07ED0710-6827-498A-B41D-B2AE4506ABF0}" srcOrd="1" destOrd="0" presId="urn:microsoft.com/office/officeart/2005/8/layout/vProcess5"/>
    <dgm:cxn modelId="{F837C2FC-08B4-40DF-83A2-56689B0C2903}" type="presOf" srcId="{516EDA72-2736-457D-BCF1-5DFE08B59F31}" destId="{AD226A23-4BF3-4D36-85F9-08F654477F29}" srcOrd="0" destOrd="0" presId="urn:microsoft.com/office/officeart/2005/8/layout/vProcess5"/>
    <dgm:cxn modelId="{0C8C94C8-40CF-46F5-A2AB-1CF9813F25E0}" type="presParOf" srcId="{A9DA5F06-8566-49A1-B115-446D59AFE6FB}" destId="{87B7A24D-91DC-40F0-98E8-8DCD98573354}" srcOrd="0" destOrd="0" presId="urn:microsoft.com/office/officeart/2005/8/layout/vProcess5"/>
    <dgm:cxn modelId="{94096F28-939F-44E7-A601-F6C2FCAD4C87}" type="presParOf" srcId="{A9DA5F06-8566-49A1-B115-446D59AFE6FB}" destId="{D6BE2BFC-C0DC-46D9-9643-F8127BF5CB91}" srcOrd="1" destOrd="0" presId="urn:microsoft.com/office/officeart/2005/8/layout/vProcess5"/>
    <dgm:cxn modelId="{63065D22-8E36-45AB-A7A9-979FAAE5DA9B}" type="presParOf" srcId="{A9DA5F06-8566-49A1-B115-446D59AFE6FB}" destId="{73B2CC5D-ABFB-4255-8E9D-11ECDE148E01}" srcOrd="2" destOrd="0" presId="urn:microsoft.com/office/officeart/2005/8/layout/vProcess5"/>
    <dgm:cxn modelId="{433AC523-B7A8-46EE-AEA3-B09776EC1797}" type="presParOf" srcId="{A9DA5F06-8566-49A1-B115-446D59AFE6FB}" destId="{07A99F3B-9A39-4BA0-806A-A2FE33F17FF7}" srcOrd="3" destOrd="0" presId="urn:microsoft.com/office/officeart/2005/8/layout/vProcess5"/>
    <dgm:cxn modelId="{1596F65F-ED05-4649-96E4-1484F956643E}" type="presParOf" srcId="{A9DA5F06-8566-49A1-B115-446D59AFE6FB}" destId="{2F391EED-EECC-44D3-BF25-CD8B25400934}" srcOrd="4" destOrd="0" presId="urn:microsoft.com/office/officeart/2005/8/layout/vProcess5"/>
    <dgm:cxn modelId="{36D75948-E290-4B23-BE87-1A587CFBEF22}" type="presParOf" srcId="{A9DA5F06-8566-49A1-B115-446D59AFE6FB}" destId="{AD226A23-4BF3-4D36-85F9-08F654477F29}" srcOrd="5" destOrd="0" presId="urn:microsoft.com/office/officeart/2005/8/layout/vProcess5"/>
    <dgm:cxn modelId="{BF9EC507-5683-439F-A37E-737BF9655D7A}" type="presParOf" srcId="{A9DA5F06-8566-49A1-B115-446D59AFE6FB}" destId="{8387DF45-68B9-4ECE-A0BC-EB776B07BD02}" srcOrd="6" destOrd="0" presId="urn:microsoft.com/office/officeart/2005/8/layout/vProcess5"/>
    <dgm:cxn modelId="{66D1878E-BB26-4A10-B30E-0461ED86477B}" type="presParOf" srcId="{A9DA5F06-8566-49A1-B115-446D59AFE6FB}" destId="{07ED0710-6827-498A-B41D-B2AE4506ABF0}" srcOrd="7" destOrd="0" presId="urn:microsoft.com/office/officeart/2005/8/layout/vProcess5"/>
    <dgm:cxn modelId="{EFE9D9EF-2778-4FA4-ACC4-4FB7F4738F38}" type="presParOf" srcId="{A9DA5F06-8566-49A1-B115-446D59AFE6FB}" destId="{3E3D6533-B753-46F8-BFE3-950A933BB1C0}" srcOrd="8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866617D0-D71F-4E37-8243-300D5E74D6AC}" type="doc">
      <dgm:prSet loTypeId="urn:microsoft.com/office/officeart/2005/8/layout/hierarchy1" loCatId="hierarchy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2DB5FCBD-F414-4129-977B-E7D7249E18C6}">
      <dgm:prSet/>
      <dgm:spPr/>
      <dgm:t>
        <a:bodyPr/>
        <a:lstStyle/>
        <a:p>
          <a:r>
            <a:rPr lang="en-US"/>
            <a:t>No connection handshake – stealthy</a:t>
          </a:r>
        </a:p>
      </dgm:t>
    </dgm:pt>
    <dgm:pt modelId="{3BBEB9B5-9200-4079-A04C-D6EE150A29AC}" type="parTrans" cxnId="{FCD6109B-6B23-4F53-A3F6-61507A7F98D1}">
      <dgm:prSet/>
      <dgm:spPr/>
      <dgm:t>
        <a:bodyPr/>
        <a:lstStyle/>
        <a:p>
          <a:endParaRPr lang="en-US"/>
        </a:p>
      </dgm:t>
    </dgm:pt>
    <dgm:pt modelId="{E19A6D5D-E1DE-478E-B743-59B9423DE6F9}" type="sibTrans" cxnId="{FCD6109B-6B23-4F53-A3F6-61507A7F98D1}">
      <dgm:prSet/>
      <dgm:spPr/>
      <dgm:t>
        <a:bodyPr/>
        <a:lstStyle/>
        <a:p>
          <a:endParaRPr lang="en-US"/>
        </a:p>
      </dgm:t>
    </dgm:pt>
    <dgm:pt modelId="{E95F1090-0048-4660-9847-BB4057017413}">
      <dgm:prSet/>
      <dgm:spPr/>
      <dgm:t>
        <a:bodyPr/>
        <a:lstStyle/>
        <a:p>
          <a:r>
            <a:rPr lang="en-US"/>
            <a:t>Firewalls/IDS often miss UDP scans</a:t>
          </a:r>
        </a:p>
      </dgm:t>
    </dgm:pt>
    <dgm:pt modelId="{3CF06CF8-C6EE-4F28-86AF-47B2CCB9637B}" type="parTrans" cxnId="{27A92076-8695-4D12-87A8-2D804E5EC1CA}">
      <dgm:prSet/>
      <dgm:spPr/>
      <dgm:t>
        <a:bodyPr/>
        <a:lstStyle/>
        <a:p>
          <a:endParaRPr lang="en-US"/>
        </a:p>
      </dgm:t>
    </dgm:pt>
    <dgm:pt modelId="{3A03CD7D-4B3E-4545-B14D-4B6D4CC819EA}" type="sibTrans" cxnId="{27A92076-8695-4D12-87A8-2D804E5EC1CA}">
      <dgm:prSet/>
      <dgm:spPr/>
      <dgm:t>
        <a:bodyPr/>
        <a:lstStyle/>
        <a:p>
          <a:endParaRPr lang="en-US"/>
        </a:p>
      </dgm:t>
    </dgm:pt>
    <dgm:pt modelId="{FE149450-FA3E-472B-9887-BA7DD1C1FFA3}">
      <dgm:prSet/>
      <dgm:spPr/>
      <dgm:t>
        <a:bodyPr/>
        <a:lstStyle/>
        <a:p>
          <a:r>
            <a:rPr lang="en-US"/>
            <a:t>Service enumeration possible on open ports</a:t>
          </a:r>
        </a:p>
      </dgm:t>
    </dgm:pt>
    <dgm:pt modelId="{A4A3E2C7-A6AA-4D02-B081-A598498E4B91}" type="parTrans" cxnId="{4397EB44-A69A-4A94-8F2D-E48A472DEBBE}">
      <dgm:prSet/>
      <dgm:spPr/>
      <dgm:t>
        <a:bodyPr/>
        <a:lstStyle/>
        <a:p>
          <a:endParaRPr lang="en-US"/>
        </a:p>
      </dgm:t>
    </dgm:pt>
    <dgm:pt modelId="{50652DD8-41B8-4A02-803D-7190AF2DE999}" type="sibTrans" cxnId="{4397EB44-A69A-4A94-8F2D-E48A472DEBBE}">
      <dgm:prSet/>
      <dgm:spPr/>
      <dgm:t>
        <a:bodyPr/>
        <a:lstStyle/>
        <a:p>
          <a:endParaRPr lang="en-US"/>
        </a:p>
      </dgm:t>
    </dgm:pt>
    <dgm:pt modelId="{03F63EB7-9097-4E80-9DA8-5E4B3C369DAA}" type="pres">
      <dgm:prSet presAssocID="{866617D0-D71F-4E37-8243-300D5E74D6AC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35648A89-5522-4822-8D2D-80F934030CEC}" type="pres">
      <dgm:prSet presAssocID="{2DB5FCBD-F414-4129-977B-E7D7249E18C6}" presName="hierRoot1" presStyleCnt="0"/>
      <dgm:spPr/>
    </dgm:pt>
    <dgm:pt modelId="{638F5719-49D4-45EA-905F-AC88DC1EF78D}" type="pres">
      <dgm:prSet presAssocID="{2DB5FCBD-F414-4129-977B-E7D7249E18C6}" presName="composite" presStyleCnt="0"/>
      <dgm:spPr/>
    </dgm:pt>
    <dgm:pt modelId="{7C830D24-EF3F-4EEC-AA23-7D0CEDCE0E0C}" type="pres">
      <dgm:prSet presAssocID="{2DB5FCBD-F414-4129-977B-E7D7249E18C6}" presName="background" presStyleLbl="node0" presStyleIdx="0" presStyleCnt="3"/>
      <dgm:spPr/>
    </dgm:pt>
    <dgm:pt modelId="{E01ECBBF-924F-420C-ABD5-E57C189BB8E0}" type="pres">
      <dgm:prSet presAssocID="{2DB5FCBD-F414-4129-977B-E7D7249E18C6}" presName="text" presStyleLbl="fgAcc0" presStyleIdx="0" presStyleCnt="3">
        <dgm:presLayoutVars>
          <dgm:chPref val="3"/>
        </dgm:presLayoutVars>
      </dgm:prSet>
      <dgm:spPr/>
    </dgm:pt>
    <dgm:pt modelId="{D1AC8CBC-44C6-4695-A0AC-41C96B74A062}" type="pres">
      <dgm:prSet presAssocID="{2DB5FCBD-F414-4129-977B-E7D7249E18C6}" presName="hierChild2" presStyleCnt="0"/>
      <dgm:spPr/>
    </dgm:pt>
    <dgm:pt modelId="{1C46301A-9290-4CE2-850F-E902CE038D75}" type="pres">
      <dgm:prSet presAssocID="{E95F1090-0048-4660-9847-BB4057017413}" presName="hierRoot1" presStyleCnt="0"/>
      <dgm:spPr/>
    </dgm:pt>
    <dgm:pt modelId="{D2E30423-0600-4078-BDE6-44F5C45EC8D6}" type="pres">
      <dgm:prSet presAssocID="{E95F1090-0048-4660-9847-BB4057017413}" presName="composite" presStyleCnt="0"/>
      <dgm:spPr/>
    </dgm:pt>
    <dgm:pt modelId="{7195537C-87D2-4D87-A7BD-C2A51C23EB12}" type="pres">
      <dgm:prSet presAssocID="{E95F1090-0048-4660-9847-BB4057017413}" presName="background" presStyleLbl="node0" presStyleIdx="1" presStyleCnt="3"/>
      <dgm:spPr/>
    </dgm:pt>
    <dgm:pt modelId="{6FDD851F-FBDC-4FB8-A58F-7A53F00F79D6}" type="pres">
      <dgm:prSet presAssocID="{E95F1090-0048-4660-9847-BB4057017413}" presName="text" presStyleLbl="fgAcc0" presStyleIdx="1" presStyleCnt="3">
        <dgm:presLayoutVars>
          <dgm:chPref val="3"/>
        </dgm:presLayoutVars>
      </dgm:prSet>
      <dgm:spPr/>
    </dgm:pt>
    <dgm:pt modelId="{4649673E-E744-4BFA-8330-0946E5F96531}" type="pres">
      <dgm:prSet presAssocID="{E95F1090-0048-4660-9847-BB4057017413}" presName="hierChild2" presStyleCnt="0"/>
      <dgm:spPr/>
    </dgm:pt>
    <dgm:pt modelId="{E8C29678-B8B4-450B-B202-54FA12ED6C7B}" type="pres">
      <dgm:prSet presAssocID="{FE149450-FA3E-472B-9887-BA7DD1C1FFA3}" presName="hierRoot1" presStyleCnt="0"/>
      <dgm:spPr/>
    </dgm:pt>
    <dgm:pt modelId="{E03FF4A0-B009-4E2D-BBBA-BDC2A4B7EAEC}" type="pres">
      <dgm:prSet presAssocID="{FE149450-FA3E-472B-9887-BA7DD1C1FFA3}" presName="composite" presStyleCnt="0"/>
      <dgm:spPr/>
    </dgm:pt>
    <dgm:pt modelId="{370E120B-9C0F-4335-9BD4-F95432AD9D5A}" type="pres">
      <dgm:prSet presAssocID="{FE149450-FA3E-472B-9887-BA7DD1C1FFA3}" presName="background" presStyleLbl="node0" presStyleIdx="2" presStyleCnt="3"/>
      <dgm:spPr/>
    </dgm:pt>
    <dgm:pt modelId="{7C3B5E31-DFC0-4969-BC40-2ACD7CF7BE98}" type="pres">
      <dgm:prSet presAssocID="{FE149450-FA3E-472B-9887-BA7DD1C1FFA3}" presName="text" presStyleLbl="fgAcc0" presStyleIdx="2" presStyleCnt="3">
        <dgm:presLayoutVars>
          <dgm:chPref val="3"/>
        </dgm:presLayoutVars>
      </dgm:prSet>
      <dgm:spPr/>
    </dgm:pt>
    <dgm:pt modelId="{F952482F-4305-4559-B83D-5A82AD06A044}" type="pres">
      <dgm:prSet presAssocID="{FE149450-FA3E-472B-9887-BA7DD1C1FFA3}" presName="hierChild2" presStyleCnt="0"/>
      <dgm:spPr/>
    </dgm:pt>
  </dgm:ptLst>
  <dgm:cxnLst>
    <dgm:cxn modelId="{B355D138-8E2D-4AE1-8B95-56430E00DEBC}" type="presOf" srcId="{2DB5FCBD-F414-4129-977B-E7D7249E18C6}" destId="{E01ECBBF-924F-420C-ABD5-E57C189BB8E0}" srcOrd="0" destOrd="0" presId="urn:microsoft.com/office/officeart/2005/8/layout/hierarchy1"/>
    <dgm:cxn modelId="{AEF4B93C-7479-470D-A693-2EE47DD9BBF9}" type="presOf" srcId="{FE149450-FA3E-472B-9887-BA7DD1C1FFA3}" destId="{7C3B5E31-DFC0-4969-BC40-2ACD7CF7BE98}" srcOrd="0" destOrd="0" presId="urn:microsoft.com/office/officeart/2005/8/layout/hierarchy1"/>
    <dgm:cxn modelId="{4397EB44-A69A-4A94-8F2D-E48A472DEBBE}" srcId="{866617D0-D71F-4E37-8243-300D5E74D6AC}" destId="{FE149450-FA3E-472B-9887-BA7DD1C1FFA3}" srcOrd="2" destOrd="0" parTransId="{A4A3E2C7-A6AA-4D02-B081-A598498E4B91}" sibTransId="{50652DD8-41B8-4A02-803D-7190AF2DE999}"/>
    <dgm:cxn modelId="{27A92076-8695-4D12-87A8-2D804E5EC1CA}" srcId="{866617D0-D71F-4E37-8243-300D5E74D6AC}" destId="{E95F1090-0048-4660-9847-BB4057017413}" srcOrd="1" destOrd="0" parTransId="{3CF06CF8-C6EE-4F28-86AF-47B2CCB9637B}" sibTransId="{3A03CD7D-4B3E-4545-B14D-4B6D4CC819EA}"/>
    <dgm:cxn modelId="{FCD6109B-6B23-4F53-A3F6-61507A7F98D1}" srcId="{866617D0-D71F-4E37-8243-300D5E74D6AC}" destId="{2DB5FCBD-F414-4129-977B-E7D7249E18C6}" srcOrd="0" destOrd="0" parTransId="{3BBEB9B5-9200-4079-A04C-D6EE150A29AC}" sibTransId="{E19A6D5D-E1DE-478E-B743-59B9423DE6F9}"/>
    <dgm:cxn modelId="{F237379F-9D01-4975-995D-D9F975AA2F68}" type="presOf" srcId="{E95F1090-0048-4660-9847-BB4057017413}" destId="{6FDD851F-FBDC-4FB8-A58F-7A53F00F79D6}" srcOrd="0" destOrd="0" presId="urn:microsoft.com/office/officeart/2005/8/layout/hierarchy1"/>
    <dgm:cxn modelId="{B92F01FC-6841-45E1-B75A-E0983AB9E922}" type="presOf" srcId="{866617D0-D71F-4E37-8243-300D5E74D6AC}" destId="{03F63EB7-9097-4E80-9DA8-5E4B3C369DAA}" srcOrd="0" destOrd="0" presId="urn:microsoft.com/office/officeart/2005/8/layout/hierarchy1"/>
    <dgm:cxn modelId="{AE74DB41-AEC4-440E-B43D-3B53726F153D}" type="presParOf" srcId="{03F63EB7-9097-4E80-9DA8-5E4B3C369DAA}" destId="{35648A89-5522-4822-8D2D-80F934030CEC}" srcOrd="0" destOrd="0" presId="urn:microsoft.com/office/officeart/2005/8/layout/hierarchy1"/>
    <dgm:cxn modelId="{A46AAC78-5F40-4EEF-B352-49F1E08493F1}" type="presParOf" srcId="{35648A89-5522-4822-8D2D-80F934030CEC}" destId="{638F5719-49D4-45EA-905F-AC88DC1EF78D}" srcOrd="0" destOrd="0" presId="urn:microsoft.com/office/officeart/2005/8/layout/hierarchy1"/>
    <dgm:cxn modelId="{6A61989A-8F97-4A5B-B589-41CD6AEF803B}" type="presParOf" srcId="{638F5719-49D4-45EA-905F-AC88DC1EF78D}" destId="{7C830D24-EF3F-4EEC-AA23-7D0CEDCE0E0C}" srcOrd="0" destOrd="0" presId="urn:microsoft.com/office/officeart/2005/8/layout/hierarchy1"/>
    <dgm:cxn modelId="{35355E3D-930F-4EB2-BF79-C45CE2DDF20F}" type="presParOf" srcId="{638F5719-49D4-45EA-905F-AC88DC1EF78D}" destId="{E01ECBBF-924F-420C-ABD5-E57C189BB8E0}" srcOrd="1" destOrd="0" presId="urn:microsoft.com/office/officeart/2005/8/layout/hierarchy1"/>
    <dgm:cxn modelId="{CDADBC6A-5F6E-400E-B6AE-708602E137C5}" type="presParOf" srcId="{35648A89-5522-4822-8D2D-80F934030CEC}" destId="{D1AC8CBC-44C6-4695-A0AC-41C96B74A062}" srcOrd="1" destOrd="0" presId="urn:microsoft.com/office/officeart/2005/8/layout/hierarchy1"/>
    <dgm:cxn modelId="{12F8DB04-D2F0-456F-837D-6FE07BABE75A}" type="presParOf" srcId="{03F63EB7-9097-4E80-9DA8-5E4B3C369DAA}" destId="{1C46301A-9290-4CE2-850F-E902CE038D75}" srcOrd="1" destOrd="0" presId="urn:microsoft.com/office/officeart/2005/8/layout/hierarchy1"/>
    <dgm:cxn modelId="{2F489A47-606E-4690-8078-7DE1A31DF2ED}" type="presParOf" srcId="{1C46301A-9290-4CE2-850F-E902CE038D75}" destId="{D2E30423-0600-4078-BDE6-44F5C45EC8D6}" srcOrd="0" destOrd="0" presId="urn:microsoft.com/office/officeart/2005/8/layout/hierarchy1"/>
    <dgm:cxn modelId="{ADB23A91-CAE6-4D17-92CF-21C097E7940A}" type="presParOf" srcId="{D2E30423-0600-4078-BDE6-44F5C45EC8D6}" destId="{7195537C-87D2-4D87-A7BD-C2A51C23EB12}" srcOrd="0" destOrd="0" presId="urn:microsoft.com/office/officeart/2005/8/layout/hierarchy1"/>
    <dgm:cxn modelId="{0F81A724-EE51-4FDC-A3B6-315876DEBBDC}" type="presParOf" srcId="{D2E30423-0600-4078-BDE6-44F5C45EC8D6}" destId="{6FDD851F-FBDC-4FB8-A58F-7A53F00F79D6}" srcOrd="1" destOrd="0" presId="urn:microsoft.com/office/officeart/2005/8/layout/hierarchy1"/>
    <dgm:cxn modelId="{335D3596-F928-4A27-AA01-88168E0FC453}" type="presParOf" srcId="{1C46301A-9290-4CE2-850F-E902CE038D75}" destId="{4649673E-E744-4BFA-8330-0946E5F96531}" srcOrd="1" destOrd="0" presId="urn:microsoft.com/office/officeart/2005/8/layout/hierarchy1"/>
    <dgm:cxn modelId="{D3678DE3-1083-4828-B6D5-3F1BBCBCD0A4}" type="presParOf" srcId="{03F63EB7-9097-4E80-9DA8-5E4B3C369DAA}" destId="{E8C29678-B8B4-450B-B202-54FA12ED6C7B}" srcOrd="2" destOrd="0" presId="urn:microsoft.com/office/officeart/2005/8/layout/hierarchy1"/>
    <dgm:cxn modelId="{A4BBBB86-4CE3-4ED6-82D1-F5B97FD6173C}" type="presParOf" srcId="{E8C29678-B8B4-450B-B202-54FA12ED6C7B}" destId="{E03FF4A0-B009-4E2D-BBBA-BDC2A4B7EAEC}" srcOrd="0" destOrd="0" presId="urn:microsoft.com/office/officeart/2005/8/layout/hierarchy1"/>
    <dgm:cxn modelId="{7205314E-D9AA-482D-B4D3-52F91018B0D7}" type="presParOf" srcId="{E03FF4A0-B009-4E2D-BBBA-BDC2A4B7EAEC}" destId="{370E120B-9C0F-4335-9BD4-F95432AD9D5A}" srcOrd="0" destOrd="0" presId="urn:microsoft.com/office/officeart/2005/8/layout/hierarchy1"/>
    <dgm:cxn modelId="{4B824AC1-E72D-4058-859D-26ADE9C04AED}" type="presParOf" srcId="{E03FF4A0-B009-4E2D-BBBA-BDC2A4B7EAEC}" destId="{7C3B5E31-DFC0-4969-BC40-2ACD7CF7BE98}" srcOrd="1" destOrd="0" presId="urn:microsoft.com/office/officeart/2005/8/layout/hierarchy1"/>
    <dgm:cxn modelId="{8F3130BB-FA95-4468-BE5F-F7639442E90E}" type="presParOf" srcId="{E8C29678-B8B4-450B-B202-54FA12ED6C7B}" destId="{F952482F-4305-4559-B83D-5A82AD06A044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B00AF10C-7D44-441F-A5F4-A5611B2320B9}" type="doc">
      <dgm:prSet loTypeId="urn:microsoft.com/office/officeart/2016/7/layout/VerticalSolidActionList" loCatId="List" qsTypeId="urn:microsoft.com/office/officeart/2005/8/quickstyle/simple4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6CD770E6-2BDF-4EA3-BF4E-B185F6A8BF72}">
      <dgm:prSet/>
      <dgm:spPr/>
      <dgm:t>
        <a:bodyPr/>
        <a:lstStyle/>
        <a:p>
          <a:r>
            <a:rPr lang="en-US"/>
            <a:t>Disable</a:t>
          </a:r>
        </a:p>
      </dgm:t>
    </dgm:pt>
    <dgm:pt modelId="{25D34320-F3CB-4BCF-BA36-0018DADBB5ED}" type="parTrans" cxnId="{FE97C9C5-6B81-49FB-A63C-7C37AA1D3E4E}">
      <dgm:prSet/>
      <dgm:spPr/>
      <dgm:t>
        <a:bodyPr/>
        <a:lstStyle/>
        <a:p>
          <a:endParaRPr lang="en-US"/>
        </a:p>
      </dgm:t>
    </dgm:pt>
    <dgm:pt modelId="{643219D4-B8EC-47AA-A5B5-91781E641185}" type="sibTrans" cxnId="{FE97C9C5-6B81-49FB-A63C-7C37AA1D3E4E}">
      <dgm:prSet/>
      <dgm:spPr/>
      <dgm:t>
        <a:bodyPr/>
        <a:lstStyle/>
        <a:p>
          <a:endParaRPr lang="en-US"/>
        </a:p>
      </dgm:t>
    </dgm:pt>
    <dgm:pt modelId="{664568A9-5B86-4B58-8472-C6BBBABC3730}">
      <dgm:prSet/>
      <dgm:spPr/>
      <dgm:t>
        <a:bodyPr/>
        <a:lstStyle/>
        <a:p>
          <a:r>
            <a:rPr lang="en-US"/>
            <a:t>Disable unused UDP services</a:t>
          </a:r>
        </a:p>
      </dgm:t>
    </dgm:pt>
    <dgm:pt modelId="{A7433468-CFFC-48B4-8031-2F65CB4D2DFC}" type="parTrans" cxnId="{0343F3CE-F2D7-4607-AE39-A138909B1B8F}">
      <dgm:prSet/>
      <dgm:spPr/>
      <dgm:t>
        <a:bodyPr/>
        <a:lstStyle/>
        <a:p>
          <a:endParaRPr lang="en-US"/>
        </a:p>
      </dgm:t>
    </dgm:pt>
    <dgm:pt modelId="{FE1BF9BC-B062-4D1A-A679-A2423F836E7D}" type="sibTrans" cxnId="{0343F3CE-F2D7-4607-AE39-A138909B1B8F}">
      <dgm:prSet/>
      <dgm:spPr/>
      <dgm:t>
        <a:bodyPr/>
        <a:lstStyle/>
        <a:p>
          <a:endParaRPr lang="en-US"/>
        </a:p>
      </dgm:t>
    </dgm:pt>
    <dgm:pt modelId="{7C273D47-D74B-4E3D-84A0-B8A1ECF6157D}">
      <dgm:prSet/>
      <dgm:spPr/>
      <dgm:t>
        <a:bodyPr/>
        <a:lstStyle/>
        <a:p>
          <a:r>
            <a:rPr lang="en-US"/>
            <a:t>Use</a:t>
          </a:r>
        </a:p>
      </dgm:t>
    </dgm:pt>
    <dgm:pt modelId="{39CBC6F8-F80E-4EFA-BDA5-50C37E99813B}" type="parTrans" cxnId="{0A221D3E-8395-4181-B658-E33005662D43}">
      <dgm:prSet/>
      <dgm:spPr/>
      <dgm:t>
        <a:bodyPr/>
        <a:lstStyle/>
        <a:p>
          <a:endParaRPr lang="en-US"/>
        </a:p>
      </dgm:t>
    </dgm:pt>
    <dgm:pt modelId="{27A7127C-448F-422B-A43C-3D610374CDA5}" type="sibTrans" cxnId="{0A221D3E-8395-4181-B658-E33005662D43}">
      <dgm:prSet/>
      <dgm:spPr/>
      <dgm:t>
        <a:bodyPr/>
        <a:lstStyle/>
        <a:p>
          <a:endParaRPr lang="en-US"/>
        </a:p>
      </dgm:t>
    </dgm:pt>
    <dgm:pt modelId="{B2BDE3FE-497E-4705-800D-08DDC54F98F0}">
      <dgm:prSet/>
      <dgm:spPr/>
      <dgm:t>
        <a:bodyPr/>
        <a:lstStyle/>
        <a:p>
          <a:r>
            <a:rPr lang="en-US"/>
            <a:t>Use stateful firewalls</a:t>
          </a:r>
        </a:p>
      </dgm:t>
    </dgm:pt>
    <dgm:pt modelId="{B7EA15D3-EED1-487F-86C5-C18D867D9522}" type="parTrans" cxnId="{58E5504A-5D3F-410C-A3E1-C563B04B192F}">
      <dgm:prSet/>
      <dgm:spPr/>
      <dgm:t>
        <a:bodyPr/>
        <a:lstStyle/>
        <a:p>
          <a:endParaRPr lang="en-US"/>
        </a:p>
      </dgm:t>
    </dgm:pt>
    <dgm:pt modelId="{33808EC9-9EC5-4267-9B56-E711A34FEF44}" type="sibTrans" cxnId="{58E5504A-5D3F-410C-A3E1-C563B04B192F}">
      <dgm:prSet/>
      <dgm:spPr/>
      <dgm:t>
        <a:bodyPr/>
        <a:lstStyle/>
        <a:p>
          <a:endParaRPr lang="en-US"/>
        </a:p>
      </dgm:t>
    </dgm:pt>
    <dgm:pt modelId="{25D71D9C-39EE-4ECB-B103-F214A4B45138}">
      <dgm:prSet/>
      <dgm:spPr/>
      <dgm:t>
        <a:bodyPr/>
        <a:lstStyle/>
        <a:p>
          <a:r>
            <a:rPr lang="en-US"/>
            <a:t>Monitor/log</a:t>
          </a:r>
        </a:p>
      </dgm:t>
    </dgm:pt>
    <dgm:pt modelId="{DB277837-9AEA-475E-B750-B46A7579A959}" type="parTrans" cxnId="{6B3B005D-32F8-471C-8944-CA9DB9823C67}">
      <dgm:prSet/>
      <dgm:spPr/>
      <dgm:t>
        <a:bodyPr/>
        <a:lstStyle/>
        <a:p>
          <a:endParaRPr lang="en-US"/>
        </a:p>
      </dgm:t>
    </dgm:pt>
    <dgm:pt modelId="{530CE510-1685-4B20-AA17-C46D1BA26F96}" type="sibTrans" cxnId="{6B3B005D-32F8-471C-8944-CA9DB9823C67}">
      <dgm:prSet/>
      <dgm:spPr/>
      <dgm:t>
        <a:bodyPr/>
        <a:lstStyle/>
        <a:p>
          <a:endParaRPr lang="en-US"/>
        </a:p>
      </dgm:t>
    </dgm:pt>
    <dgm:pt modelId="{76DB5F2D-9F36-4F53-9B60-802D9E7F4254}">
      <dgm:prSet/>
      <dgm:spPr/>
      <dgm:t>
        <a:bodyPr/>
        <a:lstStyle/>
        <a:p>
          <a:r>
            <a:rPr lang="en-US"/>
            <a:t>Monitor/log unusual UDP traffic</a:t>
          </a:r>
        </a:p>
      </dgm:t>
    </dgm:pt>
    <dgm:pt modelId="{35F9B7B2-21B5-4620-A9AC-CAB2527E6C05}" type="parTrans" cxnId="{D6E2A15D-65D4-40C6-A6DB-E843C8E11B69}">
      <dgm:prSet/>
      <dgm:spPr/>
      <dgm:t>
        <a:bodyPr/>
        <a:lstStyle/>
        <a:p>
          <a:endParaRPr lang="en-US"/>
        </a:p>
      </dgm:t>
    </dgm:pt>
    <dgm:pt modelId="{5DA9593A-18EF-485C-9736-32EF336B3815}" type="sibTrans" cxnId="{D6E2A15D-65D4-40C6-A6DB-E843C8E11B69}">
      <dgm:prSet/>
      <dgm:spPr/>
      <dgm:t>
        <a:bodyPr/>
        <a:lstStyle/>
        <a:p>
          <a:endParaRPr lang="en-US"/>
        </a:p>
      </dgm:t>
    </dgm:pt>
    <dgm:pt modelId="{5AECFB20-7EE9-4501-AD58-D0942E39CA59}" type="pres">
      <dgm:prSet presAssocID="{B00AF10C-7D44-441F-A5F4-A5611B2320B9}" presName="Name0" presStyleCnt="0">
        <dgm:presLayoutVars>
          <dgm:dir/>
          <dgm:animLvl val="lvl"/>
          <dgm:resizeHandles val="exact"/>
        </dgm:presLayoutVars>
      </dgm:prSet>
      <dgm:spPr/>
    </dgm:pt>
    <dgm:pt modelId="{AE3C1CC0-9854-4029-ADA5-A5AFE698B70C}" type="pres">
      <dgm:prSet presAssocID="{6CD770E6-2BDF-4EA3-BF4E-B185F6A8BF72}" presName="linNode" presStyleCnt="0"/>
      <dgm:spPr/>
    </dgm:pt>
    <dgm:pt modelId="{3587FACB-1D5E-4DEC-A92C-0FE6039F9C92}" type="pres">
      <dgm:prSet presAssocID="{6CD770E6-2BDF-4EA3-BF4E-B185F6A8BF72}" presName="parentText" presStyleLbl="alignNode1" presStyleIdx="0" presStyleCnt="3">
        <dgm:presLayoutVars>
          <dgm:chMax val="1"/>
          <dgm:bulletEnabled/>
        </dgm:presLayoutVars>
      </dgm:prSet>
      <dgm:spPr/>
    </dgm:pt>
    <dgm:pt modelId="{66345F8B-1E73-497A-96CB-8B0268F6F395}" type="pres">
      <dgm:prSet presAssocID="{6CD770E6-2BDF-4EA3-BF4E-B185F6A8BF72}" presName="descendantText" presStyleLbl="alignAccFollowNode1" presStyleIdx="0" presStyleCnt="3">
        <dgm:presLayoutVars>
          <dgm:bulletEnabled/>
        </dgm:presLayoutVars>
      </dgm:prSet>
      <dgm:spPr/>
    </dgm:pt>
    <dgm:pt modelId="{77A98E5B-C3A5-4624-83BF-3E36563CA211}" type="pres">
      <dgm:prSet presAssocID="{643219D4-B8EC-47AA-A5B5-91781E641185}" presName="sp" presStyleCnt="0"/>
      <dgm:spPr/>
    </dgm:pt>
    <dgm:pt modelId="{3B06CFF9-4EA4-4522-9358-E277CC3284D7}" type="pres">
      <dgm:prSet presAssocID="{7C273D47-D74B-4E3D-84A0-B8A1ECF6157D}" presName="linNode" presStyleCnt="0"/>
      <dgm:spPr/>
    </dgm:pt>
    <dgm:pt modelId="{4EE53367-3A07-4816-82C4-CE16E3C1C657}" type="pres">
      <dgm:prSet presAssocID="{7C273D47-D74B-4E3D-84A0-B8A1ECF6157D}" presName="parentText" presStyleLbl="alignNode1" presStyleIdx="1" presStyleCnt="3">
        <dgm:presLayoutVars>
          <dgm:chMax val="1"/>
          <dgm:bulletEnabled/>
        </dgm:presLayoutVars>
      </dgm:prSet>
      <dgm:spPr/>
    </dgm:pt>
    <dgm:pt modelId="{05B0993C-C6A2-44E2-872D-39457123A9C3}" type="pres">
      <dgm:prSet presAssocID="{7C273D47-D74B-4E3D-84A0-B8A1ECF6157D}" presName="descendantText" presStyleLbl="alignAccFollowNode1" presStyleIdx="1" presStyleCnt="3">
        <dgm:presLayoutVars>
          <dgm:bulletEnabled/>
        </dgm:presLayoutVars>
      </dgm:prSet>
      <dgm:spPr/>
    </dgm:pt>
    <dgm:pt modelId="{F9F0822E-466F-4890-86E9-64EB28E12F5E}" type="pres">
      <dgm:prSet presAssocID="{27A7127C-448F-422B-A43C-3D610374CDA5}" presName="sp" presStyleCnt="0"/>
      <dgm:spPr/>
    </dgm:pt>
    <dgm:pt modelId="{3B2FFB34-88EA-47A8-B1C2-A0D10C82C746}" type="pres">
      <dgm:prSet presAssocID="{25D71D9C-39EE-4ECB-B103-F214A4B45138}" presName="linNode" presStyleCnt="0"/>
      <dgm:spPr/>
    </dgm:pt>
    <dgm:pt modelId="{11FA808B-B156-472F-8AFA-FB5895A7377B}" type="pres">
      <dgm:prSet presAssocID="{25D71D9C-39EE-4ECB-B103-F214A4B45138}" presName="parentText" presStyleLbl="alignNode1" presStyleIdx="2" presStyleCnt="3">
        <dgm:presLayoutVars>
          <dgm:chMax val="1"/>
          <dgm:bulletEnabled/>
        </dgm:presLayoutVars>
      </dgm:prSet>
      <dgm:spPr/>
    </dgm:pt>
    <dgm:pt modelId="{8E9458D3-FE3D-48EE-BCD1-72D13AFBBC9A}" type="pres">
      <dgm:prSet presAssocID="{25D71D9C-39EE-4ECB-B103-F214A4B45138}" presName="descendantText" presStyleLbl="alignAccFollowNode1" presStyleIdx="2" presStyleCnt="3">
        <dgm:presLayoutVars>
          <dgm:bulletEnabled/>
        </dgm:presLayoutVars>
      </dgm:prSet>
      <dgm:spPr/>
    </dgm:pt>
  </dgm:ptLst>
  <dgm:cxnLst>
    <dgm:cxn modelId="{0A221D3E-8395-4181-B658-E33005662D43}" srcId="{B00AF10C-7D44-441F-A5F4-A5611B2320B9}" destId="{7C273D47-D74B-4E3D-84A0-B8A1ECF6157D}" srcOrd="1" destOrd="0" parTransId="{39CBC6F8-F80E-4EFA-BDA5-50C37E99813B}" sibTransId="{27A7127C-448F-422B-A43C-3D610374CDA5}"/>
    <dgm:cxn modelId="{669AD05B-151D-4602-84E2-B571C20A3F8E}" type="presOf" srcId="{664568A9-5B86-4B58-8472-C6BBBABC3730}" destId="{66345F8B-1E73-497A-96CB-8B0268F6F395}" srcOrd="0" destOrd="0" presId="urn:microsoft.com/office/officeart/2016/7/layout/VerticalSolidActionList"/>
    <dgm:cxn modelId="{6B3B005D-32F8-471C-8944-CA9DB9823C67}" srcId="{B00AF10C-7D44-441F-A5F4-A5611B2320B9}" destId="{25D71D9C-39EE-4ECB-B103-F214A4B45138}" srcOrd="2" destOrd="0" parTransId="{DB277837-9AEA-475E-B750-B46A7579A959}" sibTransId="{530CE510-1685-4B20-AA17-C46D1BA26F96}"/>
    <dgm:cxn modelId="{D6E2A15D-65D4-40C6-A6DB-E843C8E11B69}" srcId="{25D71D9C-39EE-4ECB-B103-F214A4B45138}" destId="{76DB5F2D-9F36-4F53-9B60-802D9E7F4254}" srcOrd="0" destOrd="0" parTransId="{35F9B7B2-21B5-4620-A9AC-CAB2527E6C05}" sibTransId="{5DA9593A-18EF-485C-9736-32EF336B3815}"/>
    <dgm:cxn modelId="{58E5504A-5D3F-410C-A3E1-C563B04B192F}" srcId="{7C273D47-D74B-4E3D-84A0-B8A1ECF6157D}" destId="{B2BDE3FE-497E-4705-800D-08DDC54F98F0}" srcOrd="0" destOrd="0" parTransId="{B7EA15D3-EED1-487F-86C5-C18D867D9522}" sibTransId="{33808EC9-9EC5-4267-9B56-E711A34FEF44}"/>
    <dgm:cxn modelId="{5F96AF70-9875-461B-986C-C8AA8E2225F1}" type="presOf" srcId="{7C273D47-D74B-4E3D-84A0-B8A1ECF6157D}" destId="{4EE53367-3A07-4816-82C4-CE16E3C1C657}" srcOrd="0" destOrd="0" presId="urn:microsoft.com/office/officeart/2016/7/layout/VerticalSolidActionList"/>
    <dgm:cxn modelId="{B8B2C052-B229-47F6-B027-2D76E9753C1B}" type="presOf" srcId="{76DB5F2D-9F36-4F53-9B60-802D9E7F4254}" destId="{8E9458D3-FE3D-48EE-BCD1-72D13AFBBC9A}" srcOrd="0" destOrd="0" presId="urn:microsoft.com/office/officeart/2016/7/layout/VerticalSolidActionList"/>
    <dgm:cxn modelId="{92905EB5-F16D-4947-84B0-EC656C6B3500}" type="presOf" srcId="{B2BDE3FE-497E-4705-800D-08DDC54F98F0}" destId="{05B0993C-C6A2-44E2-872D-39457123A9C3}" srcOrd="0" destOrd="0" presId="urn:microsoft.com/office/officeart/2016/7/layout/VerticalSolidActionList"/>
    <dgm:cxn modelId="{FE97C9C5-6B81-49FB-A63C-7C37AA1D3E4E}" srcId="{B00AF10C-7D44-441F-A5F4-A5611B2320B9}" destId="{6CD770E6-2BDF-4EA3-BF4E-B185F6A8BF72}" srcOrd="0" destOrd="0" parTransId="{25D34320-F3CB-4BCF-BA36-0018DADBB5ED}" sibTransId="{643219D4-B8EC-47AA-A5B5-91781E641185}"/>
    <dgm:cxn modelId="{0460BDC9-1047-40AA-B8DB-26CC8AA18490}" type="presOf" srcId="{6CD770E6-2BDF-4EA3-BF4E-B185F6A8BF72}" destId="{3587FACB-1D5E-4DEC-A92C-0FE6039F9C92}" srcOrd="0" destOrd="0" presId="urn:microsoft.com/office/officeart/2016/7/layout/VerticalSolidActionList"/>
    <dgm:cxn modelId="{0343F3CE-F2D7-4607-AE39-A138909B1B8F}" srcId="{6CD770E6-2BDF-4EA3-BF4E-B185F6A8BF72}" destId="{664568A9-5B86-4B58-8472-C6BBBABC3730}" srcOrd="0" destOrd="0" parTransId="{A7433468-CFFC-48B4-8031-2F65CB4D2DFC}" sibTransId="{FE1BF9BC-B062-4D1A-A679-A2423F836E7D}"/>
    <dgm:cxn modelId="{EA71A4E0-4C81-400A-9074-701B8DB1445C}" type="presOf" srcId="{B00AF10C-7D44-441F-A5F4-A5611B2320B9}" destId="{5AECFB20-7EE9-4501-AD58-D0942E39CA59}" srcOrd="0" destOrd="0" presId="urn:microsoft.com/office/officeart/2016/7/layout/VerticalSolidActionList"/>
    <dgm:cxn modelId="{AF99D2F2-6A38-4592-B2A1-E156373A44F8}" type="presOf" srcId="{25D71D9C-39EE-4ECB-B103-F214A4B45138}" destId="{11FA808B-B156-472F-8AFA-FB5895A7377B}" srcOrd="0" destOrd="0" presId="urn:microsoft.com/office/officeart/2016/7/layout/VerticalSolidActionList"/>
    <dgm:cxn modelId="{F3643E48-CA58-4590-A35F-69CFE6A856B1}" type="presParOf" srcId="{5AECFB20-7EE9-4501-AD58-D0942E39CA59}" destId="{AE3C1CC0-9854-4029-ADA5-A5AFE698B70C}" srcOrd="0" destOrd="0" presId="urn:microsoft.com/office/officeart/2016/7/layout/VerticalSolidActionList"/>
    <dgm:cxn modelId="{F80D4B32-0599-4893-B988-43AC90100A26}" type="presParOf" srcId="{AE3C1CC0-9854-4029-ADA5-A5AFE698B70C}" destId="{3587FACB-1D5E-4DEC-A92C-0FE6039F9C92}" srcOrd="0" destOrd="0" presId="urn:microsoft.com/office/officeart/2016/7/layout/VerticalSolidActionList"/>
    <dgm:cxn modelId="{F3EA30D3-4170-443C-A398-5B2AA59B3E40}" type="presParOf" srcId="{AE3C1CC0-9854-4029-ADA5-A5AFE698B70C}" destId="{66345F8B-1E73-497A-96CB-8B0268F6F395}" srcOrd="1" destOrd="0" presId="urn:microsoft.com/office/officeart/2016/7/layout/VerticalSolidActionList"/>
    <dgm:cxn modelId="{A456AD25-9162-4CC9-94A2-BB4C5A65B773}" type="presParOf" srcId="{5AECFB20-7EE9-4501-AD58-D0942E39CA59}" destId="{77A98E5B-C3A5-4624-83BF-3E36563CA211}" srcOrd="1" destOrd="0" presId="urn:microsoft.com/office/officeart/2016/7/layout/VerticalSolidActionList"/>
    <dgm:cxn modelId="{84B24512-990A-4B94-B9FA-02B7C62F0195}" type="presParOf" srcId="{5AECFB20-7EE9-4501-AD58-D0942E39CA59}" destId="{3B06CFF9-4EA4-4522-9358-E277CC3284D7}" srcOrd="2" destOrd="0" presId="urn:microsoft.com/office/officeart/2016/7/layout/VerticalSolidActionList"/>
    <dgm:cxn modelId="{1A72DE85-92C1-46C5-9906-89A243413ED9}" type="presParOf" srcId="{3B06CFF9-4EA4-4522-9358-E277CC3284D7}" destId="{4EE53367-3A07-4816-82C4-CE16E3C1C657}" srcOrd="0" destOrd="0" presId="urn:microsoft.com/office/officeart/2016/7/layout/VerticalSolidActionList"/>
    <dgm:cxn modelId="{6AC66CB5-5BF8-46D1-97D9-6326C6333C0C}" type="presParOf" srcId="{3B06CFF9-4EA4-4522-9358-E277CC3284D7}" destId="{05B0993C-C6A2-44E2-872D-39457123A9C3}" srcOrd="1" destOrd="0" presId="urn:microsoft.com/office/officeart/2016/7/layout/VerticalSolidActionList"/>
    <dgm:cxn modelId="{A6826F05-0F0B-4613-B8B6-662498A8045E}" type="presParOf" srcId="{5AECFB20-7EE9-4501-AD58-D0942E39CA59}" destId="{F9F0822E-466F-4890-86E9-64EB28E12F5E}" srcOrd="3" destOrd="0" presId="urn:microsoft.com/office/officeart/2016/7/layout/VerticalSolidActionList"/>
    <dgm:cxn modelId="{EC200F60-3C22-4C19-BD9F-DD3853D03DB8}" type="presParOf" srcId="{5AECFB20-7EE9-4501-AD58-D0942E39CA59}" destId="{3B2FFB34-88EA-47A8-B1C2-A0D10C82C746}" srcOrd="4" destOrd="0" presId="urn:microsoft.com/office/officeart/2016/7/layout/VerticalSolidActionList"/>
    <dgm:cxn modelId="{D1B6A11B-FEF7-4D95-92DC-ED6ADB67BE50}" type="presParOf" srcId="{3B2FFB34-88EA-47A8-B1C2-A0D10C82C746}" destId="{11FA808B-B156-472F-8AFA-FB5895A7377B}" srcOrd="0" destOrd="0" presId="urn:microsoft.com/office/officeart/2016/7/layout/VerticalSolidActionList"/>
    <dgm:cxn modelId="{4913F402-852E-463E-8146-82A372A609C1}" type="presParOf" srcId="{3B2FFB34-88EA-47A8-B1C2-A0D10C82C746}" destId="{8E9458D3-FE3D-48EE-BCD1-72D13AFBBC9A}" srcOrd="1" destOrd="0" presId="urn:microsoft.com/office/officeart/2016/7/layout/VerticalSolidAction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2AE6268C-BDCB-4997-923D-3594C9EFCEFB}" type="doc">
      <dgm:prSet loTypeId="urn:microsoft.com/office/officeart/2018/5/layout/IconLeaf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6E03AF22-9DED-438A-B0F3-E969D067E3B4}">
      <dgm:prSet/>
      <dgm:spPr/>
      <dgm:t>
        <a:bodyPr/>
        <a:lstStyle/>
        <a:p>
          <a:pPr>
            <a:defRPr cap="all"/>
          </a:pPr>
          <a:r>
            <a:rPr lang="en-US"/>
            <a:t>Confirmed system is live: sudo nmap -sn 192.168.2.242</a:t>
          </a:r>
        </a:p>
      </dgm:t>
    </dgm:pt>
    <dgm:pt modelId="{9D479FCA-F470-4548-9C62-5169521DD932}" type="parTrans" cxnId="{2C5F5BEE-9804-496F-8955-F9FD73EA08DA}">
      <dgm:prSet/>
      <dgm:spPr/>
      <dgm:t>
        <a:bodyPr/>
        <a:lstStyle/>
        <a:p>
          <a:endParaRPr lang="en-US"/>
        </a:p>
      </dgm:t>
    </dgm:pt>
    <dgm:pt modelId="{CBD59A26-148E-4B4E-9BA2-32D26BF9BE7F}" type="sibTrans" cxnId="{2C5F5BEE-9804-496F-8955-F9FD73EA08DA}">
      <dgm:prSet/>
      <dgm:spPr/>
      <dgm:t>
        <a:bodyPr/>
        <a:lstStyle/>
        <a:p>
          <a:endParaRPr lang="en-US"/>
        </a:p>
      </dgm:t>
    </dgm:pt>
    <dgm:pt modelId="{2D7A343E-5E3A-4436-AF44-46CC158B77C6}">
      <dgm:prSet/>
      <dgm:spPr/>
      <dgm:t>
        <a:bodyPr/>
        <a:lstStyle/>
        <a:p>
          <a:pPr>
            <a:defRPr cap="all"/>
          </a:pPr>
          <a:r>
            <a:rPr lang="en-US"/>
            <a:t>Verified SSH: sudo nmap -p 22 192.168.2.242</a:t>
          </a:r>
        </a:p>
      </dgm:t>
    </dgm:pt>
    <dgm:pt modelId="{78BCEA95-7B10-401D-BDFE-170EA1F2496A}" type="parTrans" cxnId="{ADD87967-501E-43B5-B8A6-021E2CD0324E}">
      <dgm:prSet/>
      <dgm:spPr/>
      <dgm:t>
        <a:bodyPr/>
        <a:lstStyle/>
        <a:p>
          <a:endParaRPr lang="en-US"/>
        </a:p>
      </dgm:t>
    </dgm:pt>
    <dgm:pt modelId="{4F376248-7998-4376-A23B-2F0A20C65B3B}" type="sibTrans" cxnId="{ADD87967-501E-43B5-B8A6-021E2CD0324E}">
      <dgm:prSet/>
      <dgm:spPr/>
      <dgm:t>
        <a:bodyPr/>
        <a:lstStyle/>
        <a:p>
          <a:endParaRPr lang="en-US"/>
        </a:p>
      </dgm:t>
    </dgm:pt>
    <dgm:pt modelId="{79B88374-4105-48ED-80EF-EDBB104D2F3A}" type="pres">
      <dgm:prSet presAssocID="{2AE6268C-BDCB-4997-923D-3594C9EFCEFB}" presName="root" presStyleCnt="0">
        <dgm:presLayoutVars>
          <dgm:dir/>
          <dgm:resizeHandles val="exact"/>
        </dgm:presLayoutVars>
      </dgm:prSet>
      <dgm:spPr/>
    </dgm:pt>
    <dgm:pt modelId="{693C7CDB-FE87-4E59-93FF-C5AEDF389E6B}" type="pres">
      <dgm:prSet presAssocID="{6E03AF22-9DED-438A-B0F3-E969D067E3B4}" presName="compNode" presStyleCnt="0"/>
      <dgm:spPr/>
    </dgm:pt>
    <dgm:pt modelId="{603C63A5-84B3-4ADF-9C3C-21DBDEF5DC0B}" type="pres">
      <dgm:prSet presAssocID="{6E03AF22-9DED-438A-B0F3-E969D067E3B4}" presName="iconBgRect" presStyleLbl="bgShp" presStyleIdx="0" presStyleCnt="2"/>
      <dgm:spPr>
        <a:prstGeom prst="round2DiagRect">
          <a:avLst>
            <a:gd name="adj1" fmla="val 29727"/>
            <a:gd name="adj2" fmla="val 0"/>
          </a:avLst>
        </a:prstGeom>
      </dgm:spPr>
    </dgm:pt>
    <dgm:pt modelId="{34BF29E8-5E6E-4E53-BA02-32182BF5557C}" type="pres">
      <dgm:prSet presAssocID="{6E03AF22-9DED-438A-B0F3-E969D067E3B4}" presName="iconRect" presStyleLbl="node1" presStyleIdx="0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8C3BA426-6284-4EE7-AF9D-332A4F8AF3BF}" type="pres">
      <dgm:prSet presAssocID="{6E03AF22-9DED-438A-B0F3-E969D067E3B4}" presName="spaceRect" presStyleCnt="0"/>
      <dgm:spPr/>
    </dgm:pt>
    <dgm:pt modelId="{0FDDF115-E64A-4B92-A11D-194BC20E18C3}" type="pres">
      <dgm:prSet presAssocID="{6E03AF22-9DED-438A-B0F3-E969D067E3B4}" presName="textRect" presStyleLbl="revTx" presStyleIdx="0" presStyleCnt="2">
        <dgm:presLayoutVars>
          <dgm:chMax val="1"/>
          <dgm:chPref val="1"/>
        </dgm:presLayoutVars>
      </dgm:prSet>
      <dgm:spPr/>
    </dgm:pt>
    <dgm:pt modelId="{AE1F3036-41C2-4AA0-8B0F-9D4EE7B0E5BB}" type="pres">
      <dgm:prSet presAssocID="{CBD59A26-148E-4B4E-9BA2-32D26BF9BE7F}" presName="sibTrans" presStyleCnt="0"/>
      <dgm:spPr/>
    </dgm:pt>
    <dgm:pt modelId="{922DBB91-D015-4413-8A67-A0CFD125E8D9}" type="pres">
      <dgm:prSet presAssocID="{2D7A343E-5E3A-4436-AF44-46CC158B77C6}" presName="compNode" presStyleCnt="0"/>
      <dgm:spPr/>
    </dgm:pt>
    <dgm:pt modelId="{A0FF9FA0-EA02-4D53-9198-B75001ABAD1D}" type="pres">
      <dgm:prSet presAssocID="{2D7A343E-5E3A-4436-AF44-46CC158B77C6}" presName="iconBgRect" presStyleLbl="bgShp" presStyleIdx="1" presStyleCnt="2"/>
      <dgm:spPr>
        <a:prstGeom prst="round2DiagRect">
          <a:avLst>
            <a:gd name="adj1" fmla="val 29727"/>
            <a:gd name="adj2" fmla="val 0"/>
          </a:avLst>
        </a:prstGeom>
      </dgm:spPr>
    </dgm:pt>
    <dgm:pt modelId="{39A59D4E-D694-4DAF-AB46-E5D39E9C4D31}" type="pres">
      <dgm:prSet presAssocID="{2D7A343E-5E3A-4436-AF44-46CC158B77C6}" presName="iconRect" presStyleLbl="node1" presStyleIdx="1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ock"/>
        </a:ext>
      </dgm:extLst>
    </dgm:pt>
    <dgm:pt modelId="{EEF77D1B-13D5-494A-BF04-007E6721DC8B}" type="pres">
      <dgm:prSet presAssocID="{2D7A343E-5E3A-4436-AF44-46CC158B77C6}" presName="spaceRect" presStyleCnt="0"/>
      <dgm:spPr/>
    </dgm:pt>
    <dgm:pt modelId="{49FDEC01-D3B2-4C73-9C1C-6026830F9D72}" type="pres">
      <dgm:prSet presAssocID="{2D7A343E-5E3A-4436-AF44-46CC158B77C6}" presName="textRect" presStyleLbl="revTx" presStyleIdx="1" presStyleCnt="2">
        <dgm:presLayoutVars>
          <dgm:chMax val="1"/>
          <dgm:chPref val="1"/>
        </dgm:presLayoutVars>
      </dgm:prSet>
      <dgm:spPr/>
    </dgm:pt>
  </dgm:ptLst>
  <dgm:cxnLst>
    <dgm:cxn modelId="{ADD87967-501E-43B5-B8A6-021E2CD0324E}" srcId="{2AE6268C-BDCB-4997-923D-3594C9EFCEFB}" destId="{2D7A343E-5E3A-4436-AF44-46CC158B77C6}" srcOrd="1" destOrd="0" parTransId="{78BCEA95-7B10-401D-BDFE-170EA1F2496A}" sibTransId="{4F376248-7998-4376-A23B-2F0A20C65B3B}"/>
    <dgm:cxn modelId="{50534AA1-5D9E-47DD-844E-156ED6BFA385}" type="presOf" srcId="{2D7A343E-5E3A-4436-AF44-46CC158B77C6}" destId="{49FDEC01-D3B2-4C73-9C1C-6026830F9D72}" srcOrd="0" destOrd="0" presId="urn:microsoft.com/office/officeart/2018/5/layout/IconLeafLabelList"/>
    <dgm:cxn modelId="{1D5FE8B6-245B-4223-8CBF-BBABC1E360B6}" type="presOf" srcId="{2AE6268C-BDCB-4997-923D-3594C9EFCEFB}" destId="{79B88374-4105-48ED-80EF-EDBB104D2F3A}" srcOrd="0" destOrd="0" presId="urn:microsoft.com/office/officeart/2018/5/layout/IconLeafLabelList"/>
    <dgm:cxn modelId="{1A740FB9-BDF4-4DD7-950E-2733EE076A8E}" type="presOf" srcId="{6E03AF22-9DED-438A-B0F3-E969D067E3B4}" destId="{0FDDF115-E64A-4B92-A11D-194BC20E18C3}" srcOrd="0" destOrd="0" presId="urn:microsoft.com/office/officeart/2018/5/layout/IconLeafLabelList"/>
    <dgm:cxn modelId="{2C5F5BEE-9804-496F-8955-F9FD73EA08DA}" srcId="{2AE6268C-BDCB-4997-923D-3594C9EFCEFB}" destId="{6E03AF22-9DED-438A-B0F3-E969D067E3B4}" srcOrd="0" destOrd="0" parTransId="{9D479FCA-F470-4548-9C62-5169521DD932}" sibTransId="{CBD59A26-148E-4B4E-9BA2-32D26BF9BE7F}"/>
    <dgm:cxn modelId="{ACB363ED-DA36-4176-AB11-99FAFD040E53}" type="presParOf" srcId="{79B88374-4105-48ED-80EF-EDBB104D2F3A}" destId="{693C7CDB-FE87-4E59-93FF-C5AEDF389E6B}" srcOrd="0" destOrd="0" presId="urn:microsoft.com/office/officeart/2018/5/layout/IconLeafLabelList"/>
    <dgm:cxn modelId="{2746506B-9B19-4EDF-9DA4-D9A96194552B}" type="presParOf" srcId="{693C7CDB-FE87-4E59-93FF-C5AEDF389E6B}" destId="{603C63A5-84B3-4ADF-9C3C-21DBDEF5DC0B}" srcOrd="0" destOrd="0" presId="urn:microsoft.com/office/officeart/2018/5/layout/IconLeafLabelList"/>
    <dgm:cxn modelId="{963213B6-C43D-4A56-A223-5CE3C73D3626}" type="presParOf" srcId="{693C7CDB-FE87-4E59-93FF-C5AEDF389E6B}" destId="{34BF29E8-5E6E-4E53-BA02-32182BF5557C}" srcOrd="1" destOrd="0" presId="urn:microsoft.com/office/officeart/2018/5/layout/IconLeafLabelList"/>
    <dgm:cxn modelId="{7D346183-E570-4922-BCE5-F67F6E9FDF84}" type="presParOf" srcId="{693C7CDB-FE87-4E59-93FF-C5AEDF389E6B}" destId="{8C3BA426-6284-4EE7-AF9D-332A4F8AF3BF}" srcOrd="2" destOrd="0" presId="urn:microsoft.com/office/officeart/2018/5/layout/IconLeafLabelList"/>
    <dgm:cxn modelId="{480588F3-E237-420F-85C0-78393CDB29DC}" type="presParOf" srcId="{693C7CDB-FE87-4E59-93FF-C5AEDF389E6B}" destId="{0FDDF115-E64A-4B92-A11D-194BC20E18C3}" srcOrd="3" destOrd="0" presId="urn:microsoft.com/office/officeart/2018/5/layout/IconLeafLabelList"/>
    <dgm:cxn modelId="{05ECAF8D-5353-44BE-9BA6-D4FD3BE45068}" type="presParOf" srcId="{79B88374-4105-48ED-80EF-EDBB104D2F3A}" destId="{AE1F3036-41C2-4AA0-8B0F-9D4EE7B0E5BB}" srcOrd="1" destOrd="0" presId="urn:microsoft.com/office/officeart/2018/5/layout/IconLeafLabelList"/>
    <dgm:cxn modelId="{C77C239D-E8B0-4471-88A2-732FF53A28D7}" type="presParOf" srcId="{79B88374-4105-48ED-80EF-EDBB104D2F3A}" destId="{922DBB91-D015-4413-8A67-A0CFD125E8D9}" srcOrd="2" destOrd="0" presId="urn:microsoft.com/office/officeart/2018/5/layout/IconLeafLabelList"/>
    <dgm:cxn modelId="{524F70CE-3CAB-4AF9-BF3A-413603740539}" type="presParOf" srcId="{922DBB91-D015-4413-8A67-A0CFD125E8D9}" destId="{A0FF9FA0-EA02-4D53-9198-B75001ABAD1D}" srcOrd="0" destOrd="0" presId="urn:microsoft.com/office/officeart/2018/5/layout/IconLeafLabelList"/>
    <dgm:cxn modelId="{7395C40A-93E4-4FC4-A5B1-6B7A32F42B56}" type="presParOf" srcId="{922DBB91-D015-4413-8A67-A0CFD125E8D9}" destId="{39A59D4E-D694-4DAF-AB46-E5D39E9C4D31}" srcOrd="1" destOrd="0" presId="urn:microsoft.com/office/officeart/2018/5/layout/IconLeafLabelList"/>
    <dgm:cxn modelId="{BC3EEB15-2B9B-48C7-AE80-1FE4F9ED64CD}" type="presParOf" srcId="{922DBB91-D015-4413-8A67-A0CFD125E8D9}" destId="{EEF77D1B-13D5-494A-BF04-007E6721DC8B}" srcOrd="2" destOrd="0" presId="urn:microsoft.com/office/officeart/2018/5/layout/IconLeafLabelList"/>
    <dgm:cxn modelId="{65C6E63D-2515-4027-B8E7-75E07956501D}" type="presParOf" srcId="{922DBB91-D015-4413-8A67-A0CFD125E8D9}" destId="{49FDEC01-D3B2-4C73-9C1C-6026830F9D72}" srcOrd="3" destOrd="0" presId="urn:microsoft.com/office/officeart/2018/5/layout/IconLeafLabel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93640CDF-D651-4D8A-BFF9-0B5412A0824E}" type="doc">
      <dgm:prSet loTypeId="urn:microsoft.com/office/officeart/2018/5/layout/IconLeaf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13C9A536-A72B-414B-B22B-1C298345E75F}">
      <dgm:prSet/>
      <dgm:spPr/>
      <dgm:t>
        <a:bodyPr/>
        <a:lstStyle/>
        <a:p>
          <a:pPr>
            <a:defRPr cap="all"/>
          </a:pPr>
          <a:r>
            <a:rPr lang="en-US" dirty="0"/>
            <a:t>Command: hydra -L users.txt -P rockyou.txt ssh://192.168.2.242 -V</a:t>
          </a:r>
        </a:p>
      </dgm:t>
    </dgm:pt>
    <dgm:pt modelId="{6D3EA9DB-DD91-4EA1-8981-7139657C8FFC}" type="parTrans" cxnId="{CD41BC8E-9390-4834-A06A-2A0C87095800}">
      <dgm:prSet/>
      <dgm:spPr/>
      <dgm:t>
        <a:bodyPr/>
        <a:lstStyle/>
        <a:p>
          <a:endParaRPr lang="en-US"/>
        </a:p>
      </dgm:t>
    </dgm:pt>
    <dgm:pt modelId="{D9E31F31-3CA9-4C0F-8629-BC855184F7FB}" type="sibTrans" cxnId="{CD41BC8E-9390-4834-A06A-2A0C87095800}">
      <dgm:prSet/>
      <dgm:spPr/>
      <dgm:t>
        <a:bodyPr/>
        <a:lstStyle/>
        <a:p>
          <a:endParaRPr lang="en-US"/>
        </a:p>
      </dgm:t>
    </dgm:pt>
    <dgm:pt modelId="{CC1E6329-4C27-49CD-B887-2605FD04A3DA}">
      <dgm:prSet/>
      <dgm:spPr/>
      <dgm:t>
        <a:bodyPr/>
        <a:lstStyle/>
        <a:p>
          <a:pPr>
            <a:defRPr cap="all"/>
          </a:pPr>
          <a:r>
            <a:rPr lang="en-US"/>
            <a:t>Uses username + password lists</a:t>
          </a:r>
        </a:p>
      </dgm:t>
    </dgm:pt>
    <dgm:pt modelId="{1C57B104-477D-4635-A943-B2DA61CE9223}" type="parTrans" cxnId="{3CC89121-6F3A-4F0A-AE54-A8BE66A323A4}">
      <dgm:prSet/>
      <dgm:spPr/>
      <dgm:t>
        <a:bodyPr/>
        <a:lstStyle/>
        <a:p>
          <a:endParaRPr lang="en-US"/>
        </a:p>
      </dgm:t>
    </dgm:pt>
    <dgm:pt modelId="{D0625BF2-0026-4AFD-8F09-B201E8FDD3AD}" type="sibTrans" cxnId="{3CC89121-6F3A-4F0A-AE54-A8BE66A323A4}">
      <dgm:prSet/>
      <dgm:spPr/>
      <dgm:t>
        <a:bodyPr/>
        <a:lstStyle/>
        <a:p>
          <a:endParaRPr lang="en-US"/>
        </a:p>
      </dgm:t>
    </dgm:pt>
    <dgm:pt modelId="{677C76A4-6A69-45E3-96DE-2FE20269C829}">
      <dgm:prSet/>
      <dgm:spPr/>
      <dgm:t>
        <a:bodyPr/>
        <a:lstStyle/>
        <a:p>
          <a:pPr>
            <a:defRPr cap="all"/>
          </a:pPr>
          <a:r>
            <a:rPr lang="en-US"/>
            <a:t>Successful login found: administrator : password</a:t>
          </a:r>
        </a:p>
      </dgm:t>
    </dgm:pt>
    <dgm:pt modelId="{79862BDA-E771-4E32-88E7-178537E99B13}" type="parTrans" cxnId="{FEB4B9BD-607B-4436-AEFE-042ABB577E94}">
      <dgm:prSet/>
      <dgm:spPr/>
      <dgm:t>
        <a:bodyPr/>
        <a:lstStyle/>
        <a:p>
          <a:endParaRPr lang="en-US"/>
        </a:p>
      </dgm:t>
    </dgm:pt>
    <dgm:pt modelId="{A27F54D9-8B23-4BDB-9027-E94CB9AD3429}" type="sibTrans" cxnId="{FEB4B9BD-607B-4436-AEFE-042ABB577E94}">
      <dgm:prSet/>
      <dgm:spPr/>
      <dgm:t>
        <a:bodyPr/>
        <a:lstStyle/>
        <a:p>
          <a:endParaRPr lang="en-US"/>
        </a:p>
      </dgm:t>
    </dgm:pt>
    <dgm:pt modelId="{3701A9B5-341F-4CF8-9998-96B8E214D585}" type="pres">
      <dgm:prSet presAssocID="{93640CDF-D651-4D8A-BFF9-0B5412A0824E}" presName="root" presStyleCnt="0">
        <dgm:presLayoutVars>
          <dgm:dir/>
          <dgm:resizeHandles val="exact"/>
        </dgm:presLayoutVars>
      </dgm:prSet>
      <dgm:spPr/>
    </dgm:pt>
    <dgm:pt modelId="{D7A904A9-8188-4CC6-90E6-10CDB093314C}" type="pres">
      <dgm:prSet presAssocID="{13C9A536-A72B-414B-B22B-1C298345E75F}" presName="compNode" presStyleCnt="0"/>
      <dgm:spPr/>
    </dgm:pt>
    <dgm:pt modelId="{B2B9CC19-1227-46A1-BAD4-1712C22912A5}" type="pres">
      <dgm:prSet presAssocID="{13C9A536-A72B-414B-B22B-1C298345E75F}" presName="iconBgRect" presStyleLbl="bgShp" presStyleIdx="0" presStyleCnt="3"/>
      <dgm:spPr>
        <a:prstGeom prst="round2DiagRect">
          <a:avLst>
            <a:gd name="adj1" fmla="val 29727"/>
            <a:gd name="adj2" fmla="val 0"/>
          </a:avLst>
        </a:prstGeom>
      </dgm:spPr>
    </dgm:pt>
    <dgm:pt modelId="{6700CFAE-0DEF-494F-8805-80F512491D22}" type="pres">
      <dgm:prSet presAssocID="{13C9A536-A72B-414B-B22B-1C298345E75F}" presName="iconRect" presStyleLbl="node1" presStyleIdx="0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aptain"/>
        </a:ext>
      </dgm:extLst>
    </dgm:pt>
    <dgm:pt modelId="{44197DE5-402B-47F7-9897-2DD4C7FD8EA7}" type="pres">
      <dgm:prSet presAssocID="{13C9A536-A72B-414B-B22B-1C298345E75F}" presName="spaceRect" presStyleCnt="0"/>
      <dgm:spPr/>
    </dgm:pt>
    <dgm:pt modelId="{EDFB26EF-AB2A-4272-BEFD-245938C18EE1}" type="pres">
      <dgm:prSet presAssocID="{13C9A536-A72B-414B-B22B-1C298345E75F}" presName="textRect" presStyleLbl="revTx" presStyleIdx="0" presStyleCnt="3">
        <dgm:presLayoutVars>
          <dgm:chMax val="1"/>
          <dgm:chPref val="1"/>
        </dgm:presLayoutVars>
      </dgm:prSet>
      <dgm:spPr/>
    </dgm:pt>
    <dgm:pt modelId="{9D4BD93D-8D3A-4678-83F4-8C17E1DC5669}" type="pres">
      <dgm:prSet presAssocID="{D9E31F31-3CA9-4C0F-8629-BC855184F7FB}" presName="sibTrans" presStyleCnt="0"/>
      <dgm:spPr/>
    </dgm:pt>
    <dgm:pt modelId="{F7424B3C-1193-4B86-83BC-089D24B74434}" type="pres">
      <dgm:prSet presAssocID="{CC1E6329-4C27-49CD-B887-2605FD04A3DA}" presName="compNode" presStyleCnt="0"/>
      <dgm:spPr/>
    </dgm:pt>
    <dgm:pt modelId="{32AF7C8F-3FC5-4202-83B4-E7F43F35BAFF}" type="pres">
      <dgm:prSet presAssocID="{CC1E6329-4C27-49CD-B887-2605FD04A3DA}" presName="iconBgRect" presStyleLbl="bgShp" presStyleIdx="1" presStyleCnt="3"/>
      <dgm:spPr>
        <a:prstGeom prst="round2DiagRect">
          <a:avLst>
            <a:gd name="adj1" fmla="val 29727"/>
            <a:gd name="adj2" fmla="val 0"/>
          </a:avLst>
        </a:prstGeom>
      </dgm:spPr>
    </dgm:pt>
    <dgm:pt modelId="{AFA3918C-3811-4D08-8180-965622088E90}" type="pres">
      <dgm:prSet presAssocID="{CC1E6329-4C27-49CD-B887-2605FD04A3DA}" presName="iconRect" presStyleLbl="node1" presStyleIdx="1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ser"/>
        </a:ext>
      </dgm:extLst>
    </dgm:pt>
    <dgm:pt modelId="{A6EFC7D4-C2D8-4227-AE56-D786335C85C8}" type="pres">
      <dgm:prSet presAssocID="{CC1E6329-4C27-49CD-B887-2605FD04A3DA}" presName="spaceRect" presStyleCnt="0"/>
      <dgm:spPr/>
    </dgm:pt>
    <dgm:pt modelId="{74DF8729-54D9-46F3-9659-3C954EDDC6E5}" type="pres">
      <dgm:prSet presAssocID="{CC1E6329-4C27-49CD-B887-2605FD04A3DA}" presName="textRect" presStyleLbl="revTx" presStyleIdx="1" presStyleCnt="3">
        <dgm:presLayoutVars>
          <dgm:chMax val="1"/>
          <dgm:chPref val="1"/>
        </dgm:presLayoutVars>
      </dgm:prSet>
      <dgm:spPr/>
    </dgm:pt>
    <dgm:pt modelId="{7ED3957F-6BEE-422C-A25D-E23C24FB229B}" type="pres">
      <dgm:prSet presAssocID="{D0625BF2-0026-4AFD-8F09-B201E8FDD3AD}" presName="sibTrans" presStyleCnt="0"/>
      <dgm:spPr/>
    </dgm:pt>
    <dgm:pt modelId="{94A0E1B9-7D68-4C4D-91CF-1A78D3AB7AB9}" type="pres">
      <dgm:prSet presAssocID="{677C76A4-6A69-45E3-96DE-2FE20269C829}" presName="compNode" presStyleCnt="0"/>
      <dgm:spPr/>
    </dgm:pt>
    <dgm:pt modelId="{A94EF586-AC83-4A13-AF91-DB475F07E176}" type="pres">
      <dgm:prSet presAssocID="{677C76A4-6A69-45E3-96DE-2FE20269C829}" presName="iconBgRect" presStyleLbl="bgShp" presStyleIdx="2" presStyleCnt="3"/>
      <dgm:spPr>
        <a:prstGeom prst="round2DiagRect">
          <a:avLst>
            <a:gd name="adj1" fmla="val 29727"/>
            <a:gd name="adj2" fmla="val 0"/>
          </a:avLst>
        </a:prstGeom>
      </dgm:spPr>
    </dgm:pt>
    <dgm:pt modelId="{5BEDCE12-D312-4162-AE95-278250DE9A7C}" type="pres">
      <dgm:prSet presAssocID="{677C76A4-6A69-45E3-96DE-2FE20269C829}" presName="iconRect" presStyleLbl="node1" presStyleIdx="2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ubtitles"/>
        </a:ext>
      </dgm:extLst>
    </dgm:pt>
    <dgm:pt modelId="{E7C8B76E-074A-4AB3-BA30-B488E6191719}" type="pres">
      <dgm:prSet presAssocID="{677C76A4-6A69-45E3-96DE-2FE20269C829}" presName="spaceRect" presStyleCnt="0"/>
      <dgm:spPr/>
    </dgm:pt>
    <dgm:pt modelId="{B436FED4-DFC9-423F-9F1B-6151EFC8782A}" type="pres">
      <dgm:prSet presAssocID="{677C76A4-6A69-45E3-96DE-2FE20269C829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3CC89121-6F3A-4F0A-AE54-A8BE66A323A4}" srcId="{93640CDF-D651-4D8A-BFF9-0B5412A0824E}" destId="{CC1E6329-4C27-49CD-B887-2605FD04A3DA}" srcOrd="1" destOrd="0" parTransId="{1C57B104-477D-4635-A943-B2DA61CE9223}" sibTransId="{D0625BF2-0026-4AFD-8F09-B201E8FDD3AD}"/>
    <dgm:cxn modelId="{AFA2DA26-D697-4503-8810-9CC2305A4F12}" type="presOf" srcId="{13C9A536-A72B-414B-B22B-1C298345E75F}" destId="{EDFB26EF-AB2A-4272-BEFD-245938C18EE1}" srcOrd="0" destOrd="0" presId="urn:microsoft.com/office/officeart/2018/5/layout/IconLeafLabelList"/>
    <dgm:cxn modelId="{CD4E8A43-D3CE-43E7-860F-E6C774A23B93}" type="presOf" srcId="{93640CDF-D651-4D8A-BFF9-0B5412A0824E}" destId="{3701A9B5-341F-4CF8-9998-96B8E214D585}" srcOrd="0" destOrd="0" presId="urn:microsoft.com/office/officeart/2018/5/layout/IconLeafLabelList"/>
    <dgm:cxn modelId="{CD41BC8E-9390-4834-A06A-2A0C87095800}" srcId="{93640CDF-D651-4D8A-BFF9-0B5412A0824E}" destId="{13C9A536-A72B-414B-B22B-1C298345E75F}" srcOrd="0" destOrd="0" parTransId="{6D3EA9DB-DD91-4EA1-8981-7139657C8FFC}" sibTransId="{D9E31F31-3CA9-4C0F-8629-BC855184F7FB}"/>
    <dgm:cxn modelId="{89B6A4A6-76A9-45AE-B0B4-88BBE057993D}" type="presOf" srcId="{CC1E6329-4C27-49CD-B887-2605FD04A3DA}" destId="{74DF8729-54D9-46F3-9659-3C954EDDC6E5}" srcOrd="0" destOrd="0" presId="urn:microsoft.com/office/officeart/2018/5/layout/IconLeafLabelList"/>
    <dgm:cxn modelId="{FEB4B9BD-607B-4436-AEFE-042ABB577E94}" srcId="{93640CDF-D651-4D8A-BFF9-0B5412A0824E}" destId="{677C76A4-6A69-45E3-96DE-2FE20269C829}" srcOrd="2" destOrd="0" parTransId="{79862BDA-E771-4E32-88E7-178537E99B13}" sibTransId="{A27F54D9-8B23-4BDB-9027-E94CB9AD3429}"/>
    <dgm:cxn modelId="{A91E72D2-FDB4-4C82-B76F-5A9226B79852}" type="presOf" srcId="{677C76A4-6A69-45E3-96DE-2FE20269C829}" destId="{B436FED4-DFC9-423F-9F1B-6151EFC8782A}" srcOrd="0" destOrd="0" presId="urn:microsoft.com/office/officeart/2018/5/layout/IconLeafLabelList"/>
    <dgm:cxn modelId="{85CD9DA3-0811-4BD1-9A40-1285F08BA871}" type="presParOf" srcId="{3701A9B5-341F-4CF8-9998-96B8E214D585}" destId="{D7A904A9-8188-4CC6-90E6-10CDB093314C}" srcOrd="0" destOrd="0" presId="urn:microsoft.com/office/officeart/2018/5/layout/IconLeafLabelList"/>
    <dgm:cxn modelId="{1FBBDA70-4B1F-4D71-B403-D7BF8517E892}" type="presParOf" srcId="{D7A904A9-8188-4CC6-90E6-10CDB093314C}" destId="{B2B9CC19-1227-46A1-BAD4-1712C22912A5}" srcOrd="0" destOrd="0" presId="urn:microsoft.com/office/officeart/2018/5/layout/IconLeafLabelList"/>
    <dgm:cxn modelId="{F3CF1BCC-38D4-4B18-807D-EFDF1FF10813}" type="presParOf" srcId="{D7A904A9-8188-4CC6-90E6-10CDB093314C}" destId="{6700CFAE-0DEF-494F-8805-80F512491D22}" srcOrd="1" destOrd="0" presId="urn:microsoft.com/office/officeart/2018/5/layout/IconLeafLabelList"/>
    <dgm:cxn modelId="{2E5F3A27-ED8C-40B9-8554-EC8ECE702E4B}" type="presParOf" srcId="{D7A904A9-8188-4CC6-90E6-10CDB093314C}" destId="{44197DE5-402B-47F7-9897-2DD4C7FD8EA7}" srcOrd="2" destOrd="0" presId="urn:microsoft.com/office/officeart/2018/5/layout/IconLeafLabelList"/>
    <dgm:cxn modelId="{786F093A-8C9B-4652-807E-0EE64D871DD0}" type="presParOf" srcId="{D7A904A9-8188-4CC6-90E6-10CDB093314C}" destId="{EDFB26EF-AB2A-4272-BEFD-245938C18EE1}" srcOrd="3" destOrd="0" presId="urn:microsoft.com/office/officeart/2018/5/layout/IconLeafLabelList"/>
    <dgm:cxn modelId="{45D72A85-7250-4A97-8F74-F56C8A98EEC1}" type="presParOf" srcId="{3701A9B5-341F-4CF8-9998-96B8E214D585}" destId="{9D4BD93D-8D3A-4678-83F4-8C17E1DC5669}" srcOrd="1" destOrd="0" presId="urn:microsoft.com/office/officeart/2018/5/layout/IconLeafLabelList"/>
    <dgm:cxn modelId="{CE5C5E9D-E351-4C36-9CA5-5B64AE01CD58}" type="presParOf" srcId="{3701A9B5-341F-4CF8-9998-96B8E214D585}" destId="{F7424B3C-1193-4B86-83BC-089D24B74434}" srcOrd="2" destOrd="0" presId="urn:microsoft.com/office/officeart/2018/5/layout/IconLeafLabelList"/>
    <dgm:cxn modelId="{42DA5330-C7DE-4C39-8861-2CBFEF446443}" type="presParOf" srcId="{F7424B3C-1193-4B86-83BC-089D24B74434}" destId="{32AF7C8F-3FC5-4202-83B4-E7F43F35BAFF}" srcOrd="0" destOrd="0" presId="urn:microsoft.com/office/officeart/2018/5/layout/IconLeafLabelList"/>
    <dgm:cxn modelId="{79F2799E-8847-4E45-B1F2-E218587FE120}" type="presParOf" srcId="{F7424B3C-1193-4B86-83BC-089D24B74434}" destId="{AFA3918C-3811-4D08-8180-965622088E90}" srcOrd="1" destOrd="0" presId="urn:microsoft.com/office/officeart/2018/5/layout/IconLeafLabelList"/>
    <dgm:cxn modelId="{CCB66237-CE61-4FAF-A307-C10A15E3BD8A}" type="presParOf" srcId="{F7424B3C-1193-4B86-83BC-089D24B74434}" destId="{A6EFC7D4-C2D8-4227-AE56-D786335C85C8}" srcOrd="2" destOrd="0" presId="urn:microsoft.com/office/officeart/2018/5/layout/IconLeafLabelList"/>
    <dgm:cxn modelId="{4281AB3B-02D4-4498-BD80-914A8E4E5055}" type="presParOf" srcId="{F7424B3C-1193-4B86-83BC-089D24B74434}" destId="{74DF8729-54D9-46F3-9659-3C954EDDC6E5}" srcOrd="3" destOrd="0" presId="urn:microsoft.com/office/officeart/2018/5/layout/IconLeafLabelList"/>
    <dgm:cxn modelId="{30EE2CC7-2E1D-47FE-98E0-300BBFFB6E00}" type="presParOf" srcId="{3701A9B5-341F-4CF8-9998-96B8E214D585}" destId="{7ED3957F-6BEE-422C-A25D-E23C24FB229B}" srcOrd="3" destOrd="0" presId="urn:microsoft.com/office/officeart/2018/5/layout/IconLeafLabelList"/>
    <dgm:cxn modelId="{7FFC18D0-5EB0-40E1-9CB0-D9E229BDB9E8}" type="presParOf" srcId="{3701A9B5-341F-4CF8-9998-96B8E214D585}" destId="{94A0E1B9-7D68-4C4D-91CF-1A78D3AB7AB9}" srcOrd="4" destOrd="0" presId="urn:microsoft.com/office/officeart/2018/5/layout/IconLeafLabelList"/>
    <dgm:cxn modelId="{4305248B-2370-41C6-830F-D15DEF08717D}" type="presParOf" srcId="{94A0E1B9-7D68-4C4D-91CF-1A78D3AB7AB9}" destId="{A94EF586-AC83-4A13-AF91-DB475F07E176}" srcOrd="0" destOrd="0" presId="urn:microsoft.com/office/officeart/2018/5/layout/IconLeafLabelList"/>
    <dgm:cxn modelId="{C121B6BD-9599-4A29-907B-5560559B4030}" type="presParOf" srcId="{94A0E1B9-7D68-4C4D-91CF-1A78D3AB7AB9}" destId="{5BEDCE12-D312-4162-AE95-278250DE9A7C}" srcOrd="1" destOrd="0" presId="urn:microsoft.com/office/officeart/2018/5/layout/IconLeafLabelList"/>
    <dgm:cxn modelId="{E525708E-945D-4816-A8CC-F534E3DC620C}" type="presParOf" srcId="{94A0E1B9-7D68-4C4D-91CF-1A78D3AB7AB9}" destId="{E7C8B76E-074A-4AB3-BA30-B488E6191719}" srcOrd="2" destOrd="0" presId="urn:microsoft.com/office/officeart/2018/5/layout/IconLeafLabelList"/>
    <dgm:cxn modelId="{41903368-594A-43A5-BDFA-BAD0804A16A7}" type="presParOf" srcId="{94A0E1B9-7D68-4C4D-91CF-1A78D3AB7AB9}" destId="{B436FED4-DFC9-423F-9F1B-6151EFC8782A}" srcOrd="3" destOrd="0" presId="urn:microsoft.com/office/officeart/2018/5/layout/IconLeafLabel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05A119C8-B8E4-4111-A3E5-A1C991C0D3F2}" type="doc">
      <dgm:prSet loTypeId="urn:microsoft.com/office/officeart/2016/7/layout/BasicLinearProcessNumbered" loCatId="process" qsTypeId="urn:microsoft.com/office/officeart/2005/8/quickstyle/simple4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6751037E-6973-4D92-AD40-0EF4321BA18A}">
      <dgm:prSet/>
      <dgm:spPr/>
      <dgm:t>
        <a:bodyPr/>
        <a:lstStyle/>
        <a:p>
          <a:r>
            <a:rPr lang="en-US"/>
            <a:t>Use strong, complex passwords</a:t>
          </a:r>
        </a:p>
      </dgm:t>
    </dgm:pt>
    <dgm:pt modelId="{F9B8C102-6E33-4A78-9DBB-E1386D559429}" type="parTrans" cxnId="{9497EACB-F2B2-4D22-B068-04B629203866}">
      <dgm:prSet/>
      <dgm:spPr/>
      <dgm:t>
        <a:bodyPr/>
        <a:lstStyle/>
        <a:p>
          <a:endParaRPr lang="en-US"/>
        </a:p>
      </dgm:t>
    </dgm:pt>
    <dgm:pt modelId="{13FBF830-8E44-47A8-ACBA-9F12311D8B71}" type="sibTrans" cxnId="{9497EACB-F2B2-4D22-B068-04B629203866}">
      <dgm:prSet phldrT="1" phldr="0"/>
      <dgm:spPr/>
      <dgm:t>
        <a:bodyPr/>
        <a:lstStyle/>
        <a:p>
          <a:r>
            <a:rPr lang="en-US"/>
            <a:t>1</a:t>
          </a:r>
        </a:p>
      </dgm:t>
    </dgm:pt>
    <dgm:pt modelId="{CDE0BFC2-A196-4030-9366-D138C89F826E}">
      <dgm:prSet/>
      <dgm:spPr/>
      <dgm:t>
        <a:bodyPr/>
        <a:lstStyle/>
        <a:p>
          <a:r>
            <a:rPr lang="en-US"/>
            <a:t>Enable account lockout</a:t>
          </a:r>
        </a:p>
      </dgm:t>
    </dgm:pt>
    <dgm:pt modelId="{7C5DC9B9-FC5D-4075-9B3D-55254F0BC431}" type="parTrans" cxnId="{8967464B-AA3C-44EC-AB9C-6B64369510AA}">
      <dgm:prSet/>
      <dgm:spPr/>
      <dgm:t>
        <a:bodyPr/>
        <a:lstStyle/>
        <a:p>
          <a:endParaRPr lang="en-US"/>
        </a:p>
      </dgm:t>
    </dgm:pt>
    <dgm:pt modelId="{6157AD79-9A20-4E95-BE75-B2365116E719}" type="sibTrans" cxnId="{8967464B-AA3C-44EC-AB9C-6B64369510AA}">
      <dgm:prSet phldrT="2" phldr="0"/>
      <dgm:spPr/>
      <dgm:t>
        <a:bodyPr/>
        <a:lstStyle/>
        <a:p>
          <a:r>
            <a:rPr lang="en-US"/>
            <a:t>2</a:t>
          </a:r>
        </a:p>
      </dgm:t>
    </dgm:pt>
    <dgm:pt modelId="{08A70D84-1BB5-4057-8E94-519CA015B25B}">
      <dgm:prSet/>
      <dgm:spPr/>
      <dgm:t>
        <a:bodyPr/>
        <a:lstStyle/>
        <a:p>
          <a:r>
            <a:rPr lang="en-US"/>
            <a:t>Use SSH keys or enable MFA</a:t>
          </a:r>
        </a:p>
      </dgm:t>
    </dgm:pt>
    <dgm:pt modelId="{CA94EF2A-6235-47FE-84A7-2CF6A7670157}" type="parTrans" cxnId="{E7DEFB86-2744-4A84-8C82-463C554070BF}">
      <dgm:prSet/>
      <dgm:spPr/>
      <dgm:t>
        <a:bodyPr/>
        <a:lstStyle/>
        <a:p>
          <a:endParaRPr lang="en-US"/>
        </a:p>
      </dgm:t>
    </dgm:pt>
    <dgm:pt modelId="{4013F8C2-C578-427E-992D-B1054E0AF8F3}" type="sibTrans" cxnId="{E7DEFB86-2744-4A84-8C82-463C554070BF}">
      <dgm:prSet phldrT="3" phldr="0"/>
      <dgm:spPr/>
      <dgm:t>
        <a:bodyPr/>
        <a:lstStyle/>
        <a:p>
          <a:r>
            <a:rPr lang="en-US"/>
            <a:t>3</a:t>
          </a:r>
        </a:p>
      </dgm:t>
    </dgm:pt>
    <dgm:pt modelId="{FC311C0F-17B4-4C3C-999F-29D913EF76BE}" type="pres">
      <dgm:prSet presAssocID="{05A119C8-B8E4-4111-A3E5-A1C991C0D3F2}" presName="Name0" presStyleCnt="0">
        <dgm:presLayoutVars>
          <dgm:animLvl val="lvl"/>
          <dgm:resizeHandles val="exact"/>
        </dgm:presLayoutVars>
      </dgm:prSet>
      <dgm:spPr/>
    </dgm:pt>
    <dgm:pt modelId="{EDA37E15-BE1F-4A2A-89E0-EAB387EB78EC}" type="pres">
      <dgm:prSet presAssocID="{6751037E-6973-4D92-AD40-0EF4321BA18A}" presName="compositeNode" presStyleCnt="0">
        <dgm:presLayoutVars>
          <dgm:bulletEnabled val="1"/>
        </dgm:presLayoutVars>
      </dgm:prSet>
      <dgm:spPr/>
    </dgm:pt>
    <dgm:pt modelId="{4ED89F09-5529-4B47-BA5B-7972EDD37ED1}" type="pres">
      <dgm:prSet presAssocID="{6751037E-6973-4D92-AD40-0EF4321BA18A}" presName="bgRect" presStyleLbl="bgAccFollowNode1" presStyleIdx="0" presStyleCnt="3"/>
      <dgm:spPr/>
    </dgm:pt>
    <dgm:pt modelId="{F2CEAC5F-6F8E-490D-9181-A9ECF46BAD18}" type="pres">
      <dgm:prSet presAssocID="{13FBF830-8E44-47A8-ACBA-9F12311D8B71}" presName="sibTransNodeCircle" presStyleLbl="alignNode1" presStyleIdx="0" presStyleCnt="6">
        <dgm:presLayoutVars>
          <dgm:chMax val="0"/>
          <dgm:bulletEnabled/>
        </dgm:presLayoutVars>
      </dgm:prSet>
      <dgm:spPr/>
    </dgm:pt>
    <dgm:pt modelId="{1265F0E4-11AE-4B5A-92E9-570451BB662C}" type="pres">
      <dgm:prSet presAssocID="{6751037E-6973-4D92-AD40-0EF4321BA18A}" presName="bottomLine" presStyleLbl="alignNode1" presStyleIdx="1" presStyleCnt="6">
        <dgm:presLayoutVars/>
      </dgm:prSet>
      <dgm:spPr/>
    </dgm:pt>
    <dgm:pt modelId="{05C4B11A-998D-4C7D-A197-7699BC375F9A}" type="pres">
      <dgm:prSet presAssocID="{6751037E-6973-4D92-AD40-0EF4321BA18A}" presName="nodeText" presStyleLbl="bgAccFollowNode1" presStyleIdx="0" presStyleCnt="3">
        <dgm:presLayoutVars>
          <dgm:bulletEnabled val="1"/>
        </dgm:presLayoutVars>
      </dgm:prSet>
      <dgm:spPr/>
    </dgm:pt>
    <dgm:pt modelId="{46338728-D8CA-4AD5-94F0-DB48C698511D}" type="pres">
      <dgm:prSet presAssocID="{13FBF830-8E44-47A8-ACBA-9F12311D8B71}" presName="sibTrans" presStyleCnt="0"/>
      <dgm:spPr/>
    </dgm:pt>
    <dgm:pt modelId="{E699AA24-A7DE-4A4E-87EF-E2132A6FDAE0}" type="pres">
      <dgm:prSet presAssocID="{CDE0BFC2-A196-4030-9366-D138C89F826E}" presName="compositeNode" presStyleCnt="0">
        <dgm:presLayoutVars>
          <dgm:bulletEnabled val="1"/>
        </dgm:presLayoutVars>
      </dgm:prSet>
      <dgm:spPr/>
    </dgm:pt>
    <dgm:pt modelId="{EFE39045-BD45-4772-B8E9-0C3AFC3F929E}" type="pres">
      <dgm:prSet presAssocID="{CDE0BFC2-A196-4030-9366-D138C89F826E}" presName="bgRect" presStyleLbl="bgAccFollowNode1" presStyleIdx="1" presStyleCnt="3"/>
      <dgm:spPr/>
    </dgm:pt>
    <dgm:pt modelId="{F4FF5451-6CF0-4C2A-A1FF-184EAE96F05D}" type="pres">
      <dgm:prSet presAssocID="{6157AD79-9A20-4E95-BE75-B2365116E719}" presName="sibTransNodeCircle" presStyleLbl="alignNode1" presStyleIdx="2" presStyleCnt="6">
        <dgm:presLayoutVars>
          <dgm:chMax val="0"/>
          <dgm:bulletEnabled/>
        </dgm:presLayoutVars>
      </dgm:prSet>
      <dgm:spPr/>
    </dgm:pt>
    <dgm:pt modelId="{6403D3B1-00FC-47F5-B794-3A0381B55F4B}" type="pres">
      <dgm:prSet presAssocID="{CDE0BFC2-A196-4030-9366-D138C89F826E}" presName="bottomLine" presStyleLbl="alignNode1" presStyleIdx="3" presStyleCnt="6">
        <dgm:presLayoutVars/>
      </dgm:prSet>
      <dgm:spPr/>
    </dgm:pt>
    <dgm:pt modelId="{BA3AD01A-38B5-415D-B73B-1B995EF9807B}" type="pres">
      <dgm:prSet presAssocID="{CDE0BFC2-A196-4030-9366-D138C89F826E}" presName="nodeText" presStyleLbl="bgAccFollowNode1" presStyleIdx="1" presStyleCnt="3">
        <dgm:presLayoutVars>
          <dgm:bulletEnabled val="1"/>
        </dgm:presLayoutVars>
      </dgm:prSet>
      <dgm:spPr/>
    </dgm:pt>
    <dgm:pt modelId="{434CD546-ED1C-4D38-B8F0-FE27743DA064}" type="pres">
      <dgm:prSet presAssocID="{6157AD79-9A20-4E95-BE75-B2365116E719}" presName="sibTrans" presStyleCnt="0"/>
      <dgm:spPr/>
    </dgm:pt>
    <dgm:pt modelId="{34431B1F-A71D-4E16-9846-4053D7A698CC}" type="pres">
      <dgm:prSet presAssocID="{08A70D84-1BB5-4057-8E94-519CA015B25B}" presName="compositeNode" presStyleCnt="0">
        <dgm:presLayoutVars>
          <dgm:bulletEnabled val="1"/>
        </dgm:presLayoutVars>
      </dgm:prSet>
      <dgm:spPr/>
    </dgm:pt>
    <dgm:pt modelId="{F25AC907-70B4-4824-9933-9107478DA030}" type="pres">
      <dgm:prSet presAssocID="{08A70D84-1BB5-4057-8E94-519CA015B25B}" presName="bgRect" presStyleLbl="bgAccFollowNode1" presStyleIdx="2" presStyleCnt="3"/>
      <dgm:spPr/>
    </dgm:pt>
    <dgm:pt modelId="{0DDDB052-49F6-434D-9C58-2BC9C94167F5}" type="pres">
      <dgm:prSet presAssocID="{4013F8C2-C578-427E-992D-B1054E0AF8F3}" presName="sibTransNodeCircle" presStyleLbl="alignNode1" presStyleIdx="4" presStyleCnt="6">
        <dgm:presLayoutVars>
          <dgm:chMax val="0"/>
          <dgm:bulletEnabled/>
        </dgm:presLayoutVars>
      </dgm:prSet>
      <dgm:spPr/>
    </dgm:pt>
    <dgm:pt modelId="{19A82DF4-6A58-4845-8481-67CC0B0138BE}" type="pres">
      <dgm:prSet presAssocID="{08A70D84-1BB5-4057-8E94-519CA015B25B}" presName="bottomLine" presStyleLbl="alignNode1" presStyleIdx="5" presStyleCnt="6">
        <dgm:presLayoutVars/>
      </dgm:prSet>
      <dgm:spPr/>
    </dgm:pt>
    <dgm:pt modelId="{20277126-D531-4276-B9E1-B30465E30A89}" type="pres">
      <dgm:prSet presAssocID="{08A70D84-1BB5-4057-8E94-519CA015B25B}" presName="nodeText" presStyleLbl="bgAccFollowNode1" presStyleIdx="2" presStyleCnt="3">
        <dgm:presLayoutVars>
          <dgm:bulletEnabled val="1"/>
        </dgm:presLayoutVars>
      </dgm:prSet>
      <dgm:spPr/>
    </dgm:pt>
  </dgm:ptLst>
  <dgm:cxnLst>
    <dgm:cxn modelId="{D76A661B-1688-4EF7-8DBD-862DC66B3873}" type="presOf" srcId="{6751037E-6973-4D92-AD40-0EF4321BA18A}" destId="{4ED89F09-5529-4B47-BA5B-7972EDD37ED1}" srcOrd="0" destOrd="0" presId="urn:microsoft.com/office/officeart/2016/7/layout/BasicLinearProcessNumbered"/>
    <dgm:cxn modelId="{3798BC22-3CB2-49E6-9B5E-A208C72CB0C6}" type="presOf" srcId="{08A70D84-1BB5-4057-8E94-519CA015B25B}" destId="{20277126-D531-4276-B9E1-B30465E30A89}" srcOrd="1" destOrd="0" presId="urn:microsoft.com/office/officeart/2016/7/layout/BasicLinearProcessNumbered"/>
    <dgm:cxn modelId="{3C5AFC25-5196-46F8-AF5A-07DA893F3977}" type="presOf" srcId="{05A119C8-B8E4-4111-A3E5-A1C991C0D3F2}" destId="{FC311C0F-17B4-4C3C-999F-29D913EF76BE}" srcOrd="0" destOrd="0" presId="urn:microsoft.com/office/officeart/2016/7/layout/BasicLinearProcessNumbered"/>
    <dgm:cxn modelId="{B9DA4568-4322-420E-8E57-6C95370FD57E}" type="presOf" srcId="{08A70D84-1BB5-4057-8E94-519CA015B25B}" destId="{F25AC907-70B4-4824-9933-9107478DA030}" srcOrd="0" destOrd="0" presId="urn:microsoft.com/office/officeart/2016/7/layout/BasicLinearProcessNumbered"/>
    <dgm:cxn modelId="{8967464B-AA3C-44EC-AB9C-6B64369510AA}" srcId="{05A119C8-B8E4-4111-A3E5-A1C991C0D3F2}" destId="{CDE0BFC2-A196-4030-9366-D138C89F826E}" srcOrd="1" destOrd="0" parTransId="{7C5DC9B9-FC5D-4075-9B3D-55254F0BC431}" sibTransId="{6157AD79-9A20-4E95-BE75-B2365116E719}"/>
    <dgm:cxn modelId="{7CE7056D-3EB6-4FC5-AFBE-7DD56923DA1A}" type="presOf" srcId="{CDE0BFC2-A196-4030-9366-D138C89F826E}" destId="{EFE39045-BD45-4772-B8E9-0C3AFC3F929E}" srcOrd="0" destOrd="0" presId="urn:microsoft.com/office/officeart/2016/7/layout/BasicLinearProcessNumbered"/>
    <dgm:cxn modelId="{E7DEFB86-2744-4A84-8C82-463C554070BF}" srcId="{05A119C8-B8E4-4111-A3E5-A1C991C0D3F2}" destId="{08A70D84-1BB5-4057-8E94-519CA015B25B}" srcOrd="2" destOrd="0" parTransId="{CA94EF2A-6235-47FE-84A7-2CF6A7670157}" sibTransId="{4013F8C2-C578-427E-992D-B1054E0AF8F3}"/>
    <dgm:cxn modelId="{83547495-A392-4B35-B421-0FEF007131A2}" type="presOf" srcId="{6751037E-6973-4D92-AD40-0EF4321BA18A}" destId="{05C4B11A-998D-4C7D-A197-7699BC375F9A}" srcOrd="1" destOrd="0" presId="urn:microsoft.com/office/officeart/2016/7/layout/BasicLinearProcessNumbered"/>
    <dgm:cxn modelId="{9497EACB-F2B2-4D22-B068-04B629203866}" srcId="{05A119C8-B8E4-4111-A3E5-A1C991C0D3F2}" destId="{6751037E-6973-4D92-AD40-0EF4321BA18A}" srcOrd="0" destOrd="0" parTransId="{F9B8C102-6E33-4A78-9DBB-E1386D559429}" sibTransId="{13FBF830-8E44-47A8-ACBA-9F12311D8B71}"/>
    <dgm:cxn modelId="{D7BEA0E5-F1F1-4F40-AB1A-B5E5F305ADAB}" type="presOf" srcId="{13FBF830-8E44-47A8-ACBA-9F12311D8B71}" destId="{F2CEAC5F-6F8E-490D-9181-A9ECF46BAD18}" srcOrd="0" destOrd="0" presId="urn:microsoft.com/office/officeart/2016/7/layout/BasicLinearProcessNumbered"/>
    <dgm:cxn modelId="{B6A375EC-78AB-42C1-8AD4-81D3DEDCDE38}" type="presOf" srcId="{6157AD79-9A20-4E95-BE75-B2365116E719}" destId="{F4FF5451-6CF0-4C2A-A1FF-184EAE96F05D}" srcOrd="0" destOrd="0" presId="urn:microsoft.com/office/officeart/2016/7/layout/BasicLinearProcessNumbered"/>
    <dgm:cxn modelId="{F9CB9AF6-A871-4C1F-973D-0D630CDDBEA3}" type="presOf" srcId="{CDE0BFC2-A196-4030-9366-D138C89F826E}" destId="{BA3AD01A-38B5-415D-B73B-1B995EF9807B}" srcOrd="1" destOrd="0" presId="urn:microsoft.com/office/officeart/2016/7/layout/BasicLinearProcessNumbered"/>
    <dgm:cxn modelId="{E015FCFD-5E2B-4544-AEC6-1FB67EBD7660}" type="presOf" srcId="{4013F8C2-C578-427E-992D-B1054E0AF8F3}" destId="{0DDDB052-49F6-434D-9C58-2BC9C94167F5}" srcOrd="0" destOrd="0" presId="urn:microsoft.com/office/officeart/2016/7/layout/BasicLinearProcessNumbered"/>
    <dgm:cxn modelId="{BD7C00EE-2B42-47B7-807C-35C820ABE7BF}" type="presParOf" srcId="{FC311C0F-17B4-4C3C-999F-29D913EF76BE}" destId="{EDA37E15-BE1F-4A2A-89E0-EAB387EB78EC}" srcOrd="0" destOrd="0" presId="urn:microsoft.com/office/officeart/2016/7/layout/BasicLinearProcessNumbered"/>
    <dgm:cxn modelId="{5C592780-0AFF-4BA8-B2FC-7F7A8BA63091}" type="presParOf" srcId="{EDA37E15-BE1F-4A2A-89E0-EAB387EB78EC}" destId="{4ED89F09-5529-4B47-BA5B-7972EDD37ED1}" srcOrd="0" destOrd="0" presId="urn:microsoft.com/office/officeart/2016/7/layout/BasicLinearProcessNumbered"/>
    <dgm:cxn modelId="{2BF89F64-12E6-4780-AC89-7A188411EEF7}" type="presParOf" srcId="{EDA37E15-BE1F-4A2A-89E0-EAB387EB78EC}" destId="{F2CEAC5F-6F8E-490D-9181-A9ECF46BAD18}" srcOrd="1" destOrd="0" presId="urn:microsoft.com/office/officeart/2016/7/layout/BasicLinearProcessNumbered"/>
    <dgm:cxn modelId="{A46458CB-167E-49BB-B4B6-F96F58FB5367}" type="presParOf" srcId="{EDA37E15-BE1F-4A2A-89E0-EAB387EB78EC}" destId="{1265F0E4-11AE-4B5A-92E9-570451BB662C}" srcOrd="2" destOrd="0" presId="urn:microsoft.com/office/officeart/2016/7/layout/BasicLinearProcessNumbered"/>
    <dgm:cxn modelId="{821F8B07-7302-4194-99B8-0DE85DD1DFE3}" type="presParOf" srcId="{EDA37E15-BE1F-4A2A-89E0-EAB387EB78EC}" destId="{05C4B11A-998D-4C7D-A197-7699BC375F9A}" srcOrd="3" destOrd="0" presId="urn:microsoft.com/office/officeart/2016/7/layout/BasicLinearProcessNumbered"/>
    <dgm:cxn modelId="{80CE5993-C780-49ED-B3F3-FD55CF4F8010}" type="presParOf" srcId="{FC311C0F-17B4-4C3C-999F-29D913EF76BE}" destId="{46338728-D8CA-4AD5-94F0-DB48C698511D}" srcOrd="1" destOrd="0" presId="urn:microsoft.com/office/officeart/2016/7/layout/BasicLinearProcessNumbered"/>
    <dgm:cxn modelId="{38DD0AE0-EB8D-49D0-8E5F-437BED5102AE}" type="presParOf" srcId="{FC311C0F-17B4-4C3C-999F-29D913EF76BE}" destId="{E699AA24-A7DE-4A4E-87EF-E2132A6FDAE0}" srcOrd="2" destOrd="0" presId="urn:microsoft.com/office/officeart/2016/7/layout/BasicLinearProcessNumbered"/>
    <dgm:cxn modelId="{F4C32B2B-D08B-4137-82E3-C27063A78888}" type="presParOf" srcId="{E699AA24-A7DE-4A4E-87EF-E2132A6FDAE0}" destId="{EFE39045-BD45-4772-B8E9-0C3AFC3F929E}" srcOrd="0" destOrd="0" presId="urn:microsoft.com/office/officeart/2016/7/layout/BasicLinearProcessNumbered"/>
    <dgm:cxn modelId="{1C50B448-32FA-4127-9FB7-8824E1EE5CCA}" type="presParOf" srcId="{E699AA24-A7DE-4A4E-87EF-E2132A6FDAE0}" destId="{F4FF5451-6CF0-4C2A-A1FF-184EAE96F05D}" srcOrd="1" destOrd="0" presId="urn:microsoft.com/office/officeart/2016/7/layout/BasicLinearProcessNumbered"/>
    <dgm:cxn modelId="{CB7AA1C3-5294-447B-8F44-750F93268561}" type="presParOf" srcId="{E699AA24-A7DE-4A4E-87EF-E2132A6FDAE0}" destId="{6403D3B1-00FC-47F5-B794-3A0381B55F4B}" srcOrd="2" destOrd="0" presId="urn:microsoft.com/office/officeart/2016/7/layout/BasicLinearProcessNumbered"/>
    <dgm:cxn modelId="{4ABAD1F6-3363-423A-ABF3-5A009608BEDC}" type="presParOf" srcId="{E699AA24-A7DE-4A4E-87EF-E2132A6FDAE0}" destId="{BA3AD01A-38B5-415D-B73B-1B995EF9807B}" srcOrd="3" destOrd="0" presId="urn:microsoft.com/office/officeart/2016/7/layout/BasicLinearProcessNumbered"/>
    <dgm:cxn modelId="{4A062F5B-939D-4D5A-8EE8-5A3FF5640327}" type="presParOf" srcId="{FC311C0F-17B4-4C3C-999F-29D913EF76BE}" destId="{434CD546-ED1C-4D38-B8F0-FE27743DA064}" srcOrd="3" destOrd="0" presId="urn:microsoft.com/office/officeart/2016/7/layout/BasicLinearProcessNumbered"/>
    <dgm:cxn modelId="{3A179162-067F-4781-BF4E-451CFE4F6D8C}" type="presParOf" srcId="{FC311C0F-17B4-4C3C-999F-29D913EF76BE}" destId="{34431B1F-A71D-4E16-9846-4053D7A698CC}" srcOrd="4" destOrd="0" presId="urn:microsoft.com/office/officeart/2016/7/layout/BasicLinearProcessNumbered"/>
    <dgm:cxn modelId="{89232B41-E0DE-4F8F-A2DA-4EA96A470C79}" type="presParOf" srcId="{34431B1F-A71D-4E16-9846-4053D7A698CC}" destId="{F25AC907-70B4-4824-9933-9107478DA030}" srcOrd="0" destOrd="0" presId="urn:microsoft.com/office/officeart/2016/7/layout/BasicLinearProcessNumbered"/>
    <dgm:cxn modelId="{764F14A7-B48D-4B48-8331-CCD90AE27150}" type="presParOf" srcId="{34431B1F-A71D-4E16-9846-4053D7A698CC}" destId="{0DDDB052-49F6-434D-9C58-2BC9C94167F5}" srcOrd="1" destOrd="0" presId="urn:microsoft.com/office/officeart/2016/7/layout/BasicLinearProcessNumbered"/>
    <dgm:cxn modelId="{C1D1708F-F158-4433-A815-4D6564AA9B10}" type="presParOf" srcId="{34431B1F-A71D-4E16-9846-4053D7A698CC}" destId="{19A82DF4-6A58-4845-8481-67CC0B0138BE}" srcOrd="2" destOrd="0" presId="urn:microsoft.com/office/officeart/2016/7/layout/BasicLinearProcessNumbered"/>
    <dgm:cxn modelId="{122B02CD-F107-465B-BB09-4D28F2759FF7}" type="presParOf" srcId="{34431B1F-A71D-4E16-9846-4053D7A698CC}" destId="{20277126-D531-4276-B9E1-B30465E30A89}" srcOrd="3" destOrd="0" presId="urn:microsoft.com/office/officeart/2016/7/layout/BasicLinearProcessNumbered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9D3AE6C-F786-4BBB-809E-1208CACE3420}">
      <dsp:nvSpPr>
        <dsp:cNvPr id="0" name=""/>
        <dsp:cNvSpPr/>
      </dsp:nvSpPr>
      <dsp:spPr>
        <a:xfrm>
          <a:off x="0" y="607"/>
          <a:ext cx="4971603" cy="142239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CD0FC20-575B-47BE-8E0C-645B9CEE6726}">
      <dsp:nvSpPr>
        <dsp:cNvPr id="0" name=""/>
        <dsp:cNvSpPr/>
      </dsp:nvSpPr>
      <dsp:spPr>
        <a:xfrm>
          <a:off x="430272" y="320645"/>
          <a:ext cx="782314" cy="78231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43D249A-1DFF-461D-9F70-EE6B1F5B7A30}">
      <dsp:nvSpPr>
        <dsp:cNvPr id="0" name=""/>
        <dsp:cNvSpPr/>
      </dsp:nvSpPr>
      <dsp:spPr>
        <a:xfrm>
          <a:off x="1642860" y="607"/>
          <a:ext cx="3328742" cy="14223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0536" tIns="150536" rIns="150536" bIns="150536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Used: sudo nmap -sU -p- 192.168.2.242</a:t>
          </a:r>
        </a:p>
      </dsp:txBody>
      <dsp:txXfrm>
        <a:off x="1642860" y="607"/>
        <a:ext cx="3328742" cy="1422390"/>
      </dsp:txXfrm>
    </dsp:sp>
    <dsp:sp modelId="{78F7CB5A-8E8E-43A6-A998-147922A089B1}">
      <dsp:nvSpPr>
        <dsp:cNvPr id="0" name=""/>
        <dsp:cNvSpPr/>
      </dsp:nvSpPr>
      <dsp:spPr>
        <a:xfrm>
          <a:off x="0" y="1778595"/>
          <a:ext cx="4971603" cy="142239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2E82FA9-1B1A-4185-BE71-F9B8BE4F22AF}">
      <dsp:nvSpPr>
        <dsp:cNvPr id="0" name=""/>
        <dsp:cNvSpPr/>
      </dsp:nvSpPr>
      <dsp:spPr>
        <a:xfrm>
          <a:off x="430272" y="2098633"/>
          <a:ext cx="782314" cy="78231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2B753D6-0F5C-452B-8179-A8A0FAD82D36}">
      <dsp:nvSpPr>
        <dsp:cNvPr id="0" name=""/>
        <dsp:cNvSpPr/>
      </dsp:nvSpPr>
      <dsp:spPr>
        <a:xfrm>
          <a:off x="1642860" y="1778595"/>
          <a:ext cx="3328742" cy="14223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0536" tIns="150536" rIns="150536" bIns="150536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Scans all 65,535 UDP ports</a:t>
          </a:r>
        </a:p>
      </dsp:txBody>
      <dsp:txXfrm>
        <a:off x="1642860" y="1778595"/>
        <a:ext cx="3328742" cy="1422390"/>
      </dsp:txXfrm>
    </dsp:sp>
    <dsp:sp modelId="{2CDE9772-8CAE-463B-BFA7-00D14EA482BF}">
      <dsp:nvSpPr>
        <dsp:cNvPr id="0" name=""/>
        <dsp:cNvSpPr/>
      </dsp:nvSpPr>
      <dsp:spPr>
        <a:xfrm>
          <a:off x="0" y="3556583"/>
          <a:ext cx="4971603" cy="142239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B1F64F8-76B6-4019-915E-8B13F4FC7403}">
      <dsp:nvSpPr>
        <dsp:cNvPr id="0" name=""/>
        <dsp:cNvSpPr/>
      </dsp:nvSpPr>
      <dsp:spPr>
        <a:xfrm>
          <a:off x="430272" y="3876620"/>
          <a:ext cx="782314" cy="78231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16D27FC-BCE3-452C-951E-B26261E209AE}">
      <dsp:nvSpPr>
        <dsp:cNvPr id="0" name=""/>
        <dsp:cNvSpPr/>
      </dsp:nvSpPr>
      <dsp:spPr>
        <a:xfrm>
          <a:off x="1642860" y="3556583"/>
          <a:ext cx="3328742" cy="14223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0536" tIns="150536" rIns="150536" bIns="150536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UDP is stealthy (no handshake), harder to detect</a:t>
          </a:r>
        </a:p>
      </dsp:txBody>
      <dsp:txXfrm>
        <a:off x="1642860" y="3556583"/>
        <a:ext cx="3328742" cy="142239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6BE2BFC-C0DC-46D9-9643-F8127BF5CB91}">
      <dsp:nvSpPr>
        <dsp:cNvPr id="0" name=""/>
        <dsp:cNvSpPr/>
      </dsp:nvSpPr>
      <dsp:spPr>
        <a:xfrm>
          <a:off x="0" y="0"/>
          <a:ext cx="6131560" cy="1228044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/>
            <a:t>Wireshark filter used: udp</a:t>
          </a:r>
        </a:p>
      </dsp:txBody>
      <dsp:txXfrm>
        <a:off x="35968" y="35968"/>
        <a:ext cx="4806404" cy="1156108"/>
      </dsp:txXfrm>
    </dsp:sp>
    <dsp:sp modelId="{73B2CC5D-ABFB-4255-8E9D-11ECDE148E01}">
      <dsp:nvSpPr>
        <dsp:cNvPr id="0" name=""/>
        <dsp:cNvSpPr/>
      </dsp:nvSpPr>
      <dsp:spPr>
        <a:xfrm>
          <a:off x="541019" y="1432718"/>
          <a:ext cx="6131560" cy="1228044"/>
        </a:xfrm>
        <a:prstGeom prst="roundRect">
          <a:avLst>
            <a:gd name="adj" fmla="val 10000"/>
          </a:avLst>
        </a:prstGeom>
        <a:solidFill>
          <a:schemeClr val="accent2">
            <a:hueOff val="-1482143"/>
            <a:satOff val="7100"/>
            <a:lumOff val="6569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/>
            <a:t>Open ports often show no response</a:t>
          </a:r>
        </a:p>
      </dsp:txBody>
      <dsp:txXfrm>
        <a:off x="576987" y="1468686"/>
        <a:ext cx="4720375" cy="1156108"/>
      </dsp:txXfrm>
    </dsp:sp>
    <dsp:sp modelId="{07A99F3B-9A39-4BA0-806A-A2FE33F17FF7}">
      <dsp:nvSpPr>
        <dsp:cNvPr id="0" name=""/>
        <dsp:cNvSpPr/>
      </dsp:nvSpPr>
      <dsp:spPr>
        <a:xfrm>
          <a:off x="1082039" y="2865437"/>
          <a:ext cx="6131560" cy="1228044"/>
        </a:xfrm>
        <a:prstGeom prst="roundRect">
          <a:avLst>
            <a:gd name="adj" fmla="val 10000"/>
          </a:avLst>
        </a:prstGeom>
        <a:solidFill>
          <a:schemeClr val="accent2">
            <a:hueOff val="-2964286"/>
            <a:satOff val="14200"/>
            <a:lumOff val="13137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/>
            <a:t>Closed ports return ICMP 'port unreachable'</a:t>
          </a:r>
        </a:p>
      </dsp:txBody>
      <dsp:txXfrm>
        <a:off x="1118007" y="2901405"/>
        <a:ext cx="4720375" cy="1156108"/>
      </dsp:txXfrm>
    </dsp:sp>
    <dsp:sp modelId="{2F391EED-EECC-44D3-BF25-CD8B25400934}">
      <dsp:nvSpPr>
        <dsp:cNvPr id="0" name=""/>
        <dsp:cNvSpPr/>
      </dsp:nvSpPr>
      <dsp:spPr>
        <a:xfrm>
          <a:off x="5333331" y="931267"/>
          <a:ext cx="798228" cy="798228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600" kern="1200"/>
        </a:p>
      </dsp:txBody>
      <dsp:txXfrm>
        <a:off x="5512932" y="931267"/>
        <a:ext cx="439026" cy="600667"/>
      </dsp:txXfrm>
    </dsp:sp>
    <dsp:sp modelId="{AD226A23-4BF3-4D36-85F9-08F654477F29}">
      <dsp:nvSpPr>
        <dsp:cNvPr id="0" name=""/>
        <dsp:cNvSpPr/>
      </dsp:nvSpPr>
      <dsp:spPr>
        <a:xfrm>
          <a:off x="5874351" y="2355798"/>
          <a:ext cx="798228" cy="798228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-4091839"/>
            <a:satOff val="45107"/>
            <a:lumOff val="4296"/>
            <a:alphaOff val="0"/>
          </a:schemeClr>
        </a:solidFill>
        <a:ln w="19050" cap="rnd" cmpd="sng" algn="ctr">
          <a:solidFill>
            <a:schemeClr val="accent2">
              <a:tint val="40000"/>
              <a:alpha val="90000"/>
              <a:hueOff val="-4091839"/>
              <a:satOff val="45107"/>
              <a:lumOff val="4296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600" kern="1200"/>
        </a:p>
      </dsp:txBody>
      <dsp:txXfrm>
        <a:off x="6053952" y="2355798"/>
        <a:ext cx="439026" cy="600667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C830D24-EF3F-4EEC-AA23-7D0CEDCE0E0C}">
      <dsp:nvSpPr>
        <dsp:cNvPr id="0" name=""/>
        <dsp:cNvSpPr/>
      </dsp:nvSpPr>
      <dsp:spPr>
        <a:xfrm>
          <a:off x="0" y="1295512"/>
          <a:ext cx="2028824" cy="128830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01ECBBF-924F-420C-ABD5-E57C189BB8E0}">
      <dsp:nvSpPr>
        <dsp:cNvPr id="0" name=""/>
        <dsp:cNvSpPr/>
      </dsp:nvSpPr>
      <dsp:spPr>
        <a:xfrm>
          <a:off x="225425" y="1509665"/>
          <a:ext cx="2028824" cy="128830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No connection handshake – stealthy</a:t>
          </a:r>
        </a:p>
      </dsp:txBody>
      <dsp:txXfrm>
        <a:off x="263158" y="1547398"/>
        <a:ext cx="1953358" cy="1212837"/>
      </dsp:txXfrm>
    </dsp:sp>
    <dsp:sp modelId="{7195537C-87D2-4D87-A7BD-C2A51C23EB12}">
      <dsp:nvSpPr>
        <dsp:cNvPr id="0" name=""/>
        <dsp:cNvSpPr/>
      </dsp:nvSpPr>
      <dsp:spPr>
        <a:xfrm>
          <a:off x="2479675" y="1295512"/>
          <a:ext cx="2028824" cy="128830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FDD851F-FBDC-4FB8-A58F-7A53F00F79D6}">
      <dsp:nvSpPr>
        <dsp:cNvPr id="0" name=""/>
        <dsp:cNvSpPr/>
      </dsp:nvSpPr>
      <dsp:spPr>
        <a:xfrm>
          <a:off x="2705100" y="1509665"/>
          <a:ext cx="2028824" cy="128830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Firewalls/IDS often miss UDP scans</a:t>
          </a:r>
        </a:p>
      </dsp:txBody>
      <dsp:txXfrm>
        <a:off x="2742833" y="1547398"/>
        <a:ext cx="1953358" cy="1212837"/>
      </dsp:txXfrm>
    </dsp:sp>
    <dsp:sp modelId="{370E120B-9C0F-4335-9BD4-F95432AD9D5A}">
      <dsp:nvSpPr>
        <dsp:cNvPr id="0" name=""/>
        <dsp:cNvSpPr/>
      </dsp:nvSpPr>
      <dsp:spPr>
        <a:xfrm>
          <a:off x="4959349" y="1295512"/>
          <a:ext cx="2028824" cy="128830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C3B5E31-DFC0-4969-BC40-2ACD7CF7BE98}">
      <dsp:nvSpPr>
        <dsp:cNvPr id="0" name=""/>
        <dsp:cNvSpPr/>
      </dsp:nvSpPr>
      <dsp:spPr>
        <a:xfrm>
          <a:off x="5184774" y="1509665"/>
          <a:ext cx="2028824" cy="128830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Service enumeration possible on open ports</a:t>
          </a:r>
        </a:p>
      </dsp:txBody>
      <dsp:txXfrm>
        <a:off x="5222507" y="1547398"/>
        <a:ext cx="1953358" cy="1212837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6345F8B-1E73-497A-96CB-8B0268F6F395}">
      <dsp:nvSpPr>
        <dsp:cNvPr id="0" name=""/>
        <dsp:cNvSpPr/>
      </dsp:nvSpPr>
      <dsp:spPr>
        <a:xfrm>
          <a:off x="994320" y="1556"/>
          <a:ext cx="3977282" cy="1595022"/>
        </a:xfrm>
        <a:prstGeom prst="rect">
          <a:avLst/>
        </a:prstGeom>
        <a:solidFill>
          <a:schemeClr val="accent5">
            <a:tint val="40000"/>
            <a:alpha val="90000"/>
            <a:hueOff val="0"/>
            <a:satOff val="0"/>
            <a:lumOff val="0"/>
            <a:alphaOff val="0"/>
          </a:schemeClr>
        </a:solidFill>
        <a:ln w="12700" cap="rnd" cmpd="sng" algn="ctr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7170" tIns="405136" rIns="77170" bIns="405136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Disable unused UDP services</a:t>
          </a:r>
        </a:p>
      </dsp:txBody>
      <dsp:txXfrm>
        <a:off x="994320" y="1556"/>
        <a:ext cx="3977282" cy="1595022"/>
      </dsp:txXfrm>
    </dsp:sp>
    <dsp:sp modelId="{3587FACB-1D5E-4DEC-A92C-0FE6039F9C92}">
      <dsp:nvSpPr>
        <dsp:cNvPr id="0" name=""/>
        <dsp:cNvSpPr/>
      </dsp:nvSpPr>
      <dsp:spPr>
        <a:xfrm>
          <a:off x="0" y="1556"/>
          <a:ext cx="994320" cy="1595022"/>
        </a:xfrm>
        <a:prstGeom prst="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96000"/>
                <a:lumMod val="100000"/>
              </a:schemeClr>
            </a:gs>
            <a:gs pos="78000">
              <a:schemeClr val="accent5">
                <a:hueOff val="0"/>
                <a:satOff val="0"/>
                <a:lumOff val="0"/>
                <a:alphaOff val="0"/>
                <a:shade val="94000"/>
                <a:lumMod val="94000"/>
              </a:schemeClr>
            </a:gs>
          </a:gsLst>
          <a:lin ang="5400000" scaled="0"/>
        </a:gradFill>
        <a:ln w="12700" cap="rnd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38100" dist="254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2616" tIns="157553" rIns="52616" bIns="157553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Disable</a:t>
          </a:r>
        </a:p>
      </dsp:txBody>
      <dsp:txXfrm>
        <a:off x="0" y="1556"/>
        <a:ext cx="994320" cy="1595022"/>
      </dsp:txXfrm>
    </dsp:sp>
    <dsp:sp modelId="{05B0993C-C6A2-44E2-872D-39457123A9C3}">
      <dsp:nvSpPr>
        <dsp:cNvPr id="0" name=""/>
        <dsp:cNvSpPr/>
      </dsp:nvSpPr>
      <dsp:spPr>
        <a:xfrm>
          <a:off x="994320" y="1692279"/>
          <a:ext cx="3977282" cy="1595022"/>
        </a:xfrm>
        <a:prstGeom prst="rect">
          <a:avLst/>
        </a:prstGeom>
        <a:solidFill>
          <a:schemeClr val="accent5">
            <a:tint val="40000"/>
            <a:alpha val="90000"/>
            <a:hueOff val="1325892"/>
            <a:satOff val="-13914"/>
            <a:lumOff val="-912"/>
            <a:alphaOff val="0"/>
          </a:schemeClr>
        </a:solidFill>
        <a:ln w="12700" cap="rnd" cmpd="sng" algn="ctr">
          <a:solidFill>
            <a:schemeClr val="accent5">
              <a:tint val="40000"/>
              <a:alpha val="90000"/>
              <a:hueOff val="1325892"/>
              <a:satOff val="-13914"/>
              <a:lumOff val="-912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7170" tIns="405136" rIns="77170" bIns="405136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Use stateful firewalls</a:t>
          </a:r>
        </a:p>
      </dsp:txBody>
      <dsp:txXfrm>
        <a:off x="994320" y="1692279"/>
        <a:ext cx="3977282" cy="1595022"/>
      </dsp:txXfrm>
    </dsp:sp>
    <dsp:sp modelId="{4EE53367-3A07-4816-82C4-CE16E3C1C657}">
      <dsp:nvSpPr>
        <dsp:cNvPr id="0" name=""/>
        <dsp:cNvSpPr/>
      </dsp:nvSpPr>
      <dsp:spPr>
        <a:xfrm>
          <a:off x="0" y="1692279"/>
          <a:ext cx="994320" cy="1595022"/>
        </a:xfrm>
        <a:prstGeom prst="rect">
          <a:avLst/>
        </a:prstGeom>
        <a:gradFill rotWithShape="0">
          <a:gsLst>
            <a:gs pos="0">
              <a:schemeClr val="accent5">
                <a:hueOff val="1247628"/>
                <a:satOff val="-25244"/>
                <a:lumOff val="784"/>
                <a:alphaOff val="0"/>
                <a:tint val="96000"/>
                <a:lumMod val="100000"/>
              </a:schemeClr>
            </a:gs>
            <a:gs pos="78000">
              <a:schemeClr val="accent5">
                <a:hueOff val="1247628"/>
                <a:satOff val="-25244"/>
                <a:lumOff val="784"/>
                <a:alphaOff val="0"/>
                <a:shade val="94000"/>
                <a:lumMod val="94000"/>
              </a:schemeClr>
            </a:gs>
          </a:gsLst>
          <a:lin ang="5400000" scaled="0"/>
        </a:gradFill>
        <a:ln w="12700" cap="rnd" cmpd="sng" algn="ctr">
          <a:solidFill>
            <a:schemeClr val="accent5">
              <a:hueOff val="1247628"/>
              <a:satOff val="-25244"/>
              <a:lumOff val="784"/>
              <a:alphaOff val="0"/>
            </a:schemeClr>
          </a:solidFill>
          <a:prstDash val="solid"/>
        </a:ln>
        <a:effectLst>
          <a:outerShdw blurRad="38100" dist="254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2616" tIns="157553" rIns="52616" bIns="157553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Use</a:t>
          </a:r>
        </a:p>
      </dsp:txBody>
      <dsp:txXfrm>
        <a:off x="0" y="1692279"/>
        <a:ext cx="994320" cy="1595022"/>
      </dsp:txXfrm>
    </dsp:sp>
    <dsp:sp modelId="{8E9458D3-FE3D-48EE-BCD1-72D13AFBBC9A}">
      <dsp:nvSpPr>
        <dsp:cNvPr id="0" name=""/>
        <dsp:cNvSpPr/>
      </dsp:nvSpPr>
      <dsp:spPr>
        <a:xfrm>
          <a:off x="994320" y="3383002"/>
          <a:ext cx="3977282" cy="1595022"/>
        </a:xfrm>
        <a:prstGeom prst="rect">
          <a:avLst/>
        </a:prstGeom>
        <a:solidFill>
          <a:schemeClr val="accent5">
            <a:tint val="40000"/>
            <a:alpha val="90000"/>
            <a:hueOff val="2651784"/>
            <a:satOff val="-27828"/>
            <a:lumOff val="-1825"/>
            <a:alphaOff val="0"/>
          </a:schemeClr>
        </a:solidFill>
        <a:ln w="12700" cap="rnd" cmpd="sng" algn="ctr">
          <a:solidFill>
            <a:schemeClr val="accent5">
              <a:tint val="40000"/>
              <a:alpha val="90000"/>
              <a:hueOff val="2651784"/>
              <a:satOff val="-27828"/>
              <a:lumOff val="-1825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7170" tIns="405136" rIns="77170" bIns="405136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Monitor/log unusual UDP traffic</a:t>
          </a:r>
        </a:p>
      </dsp:txBody>
      <dsp:txXfrm>
        <a:off x="994320" y="3383002"/>
        <a:ext cx="3977282" cy="1595022"/>
      </dsp:txXfrm>
    </dsp:sp>
    <dsp:sp modelId="{11FA808B-B156-472F-8AFA-FB5895A7377B}">
      <dsp:nvSpPr>
        <dsp:cNvPr id="0" name=""/>
        <dsp:cNvSpPr/>
      </dsp:nvSpPr>
      <dsp:spPr>
        <a:xfrm>
          <a:off x="0" y="3383002"/>
          <a:ext cx="994320" cy="1595022"/>
        </a:xfrm>
        <a:prstGeom prst="rect">
          <a:avLst/>
        </a:prstGeom>
        <a:gradFill rotWithShape="0">
          <a:gsLst>
            <a:gs pos="0">
              <a:schemeClr val="accent5">
                <a:hueOff val="2495256"/>
                <a:satOff val="-50489"/>
                <a:lumOff val="1569"/>
                <a:alphaOff val="0"/>
                <a:tint val="96000"/>
                <a:lumMod val="100000"/>
              </a:schemeClr>
            </a:gs>
            <a:gs pos="78000">
              <a:schemeClr val="accent5">
                <a:hueOff val="2495256"/>
                <a:satOff val="-50489"/>
                <a:lumOff val="1569"/>
                <a:alphaOff val="0"/>
                <a:shade val="94000"/>
                <a:lumMod val="94000"/>
              </a:schemeClr>
            </a:gs>
          </a:gsLst>
          <a:lin ang="5400000" scaled="0"/>
        </a:gradFill>
        <a:ln w="12700" cap="rnd" cmpd="sng" algn="ctr">
          <a:solidFill>
            <a:schemeClr val="accent5">
              <a:hueOff val="2495256"/>
              <a:satOff val="-50489"/>
              <a:lumOff val="1569"/>
              <a:alphaOff val="0"/>
            </a:schemeClr>
          </a:solidFill>
          <a:prstDash val="solid"/>
        </a:ln>
        <a:effectLst>
          <a:outerShdw blurRad="38100" dist="254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2616" tIns="157553" rIns="52616" bIns="157553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Monitor/log</a:t>
          </a:r>
        </a:p>
      </dsp:txBody>
      <dsp:txXfrm>
        <a:off x="0" y="3383002"/>
        <a:ext cx="994320" cy="1595022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03C63A5-84B3-4ADF-9C3C-21DBDEF5DC0B}">
      <dsp:nvSpPr>
        <dsp:cNvPr id="0" name=""/>
        <dsp:cNvSpPr/>
      </dsp:nvSpPr>
      <dsp:spPr>
        <a:xfrm>
          <a:off x="477676" y="1229790"/>
          <a:ext cx="1372500" cy="1372500"/>
        </a:xfrm>
        <a:prstGeom prst="round2DiagRect">
          <a:avLst>
            <a:gd name="adj1" fmla="val 29727"/>
            <a:gd name="adj2" fmla="val 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4BF29E8-5E6E-4E53-BA02-32182BF5557C}">
      <dsp:nvSpPr>
        <dsp:cNvPr id="0" name=""/>
        <dsp:cNvSpPr/>
      </dsp:nvSpPr>
      <dsp:spPr>
        <a:xfrm>
          <a:off x="770176" y="1522290"/>
          <a:ext cx="787500" cy="7875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FDDF115-E64A-4B92-A11D-194BC20E18C3}">
      <dsp:nvSpPr>
        <dsp:cNvPr id="0" name=""/>
        <dsp:cNvSpPr/>
      </dsp:nvSpPr>
      <dsp:spPr>
        <a:xfrm>
          <a:off x="38926" y="3029790"/>
          <a:ext cx="225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800" kern="1200"/>
            <a:t>Confirmed system is live: sudo nmap -sn 192.168.2.242</a:t>
          </a:r>
        </a:p>
      </dsp:txBody>
      <dsp:txXfrm>
        <a:off x="38926" y="3029790"/>
        <a:ext cx="2250000" cy="720000"/>
      </dsp:txXfrm>
    </dsp:sp>
    <dsp:sp modelId="{A0FF9FA0-EA02-4D53-9198-B75001ABAD1D}">
      <dsp:nvSpPr>
        <dsp:cNvPr id="0" name=""/>
        <dsp:cNvSpPr/>
      </dsp:nvSpPr>
      <dsp:spPr>
        <a:xfrm>
          <a:off x="3121426" y="1229790"/>
          <a:ext cx="1372500" cy="1372500"/>
        </a:xfrm>
        <a:prstGeom prst="round2DiagRect">
          <a:avLst>
            <a:gd name="adj1" fmla="val 29727"/>
            <a:gd name="adj2" fmla="val 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9A59D4E-D694-4DAF-AB46-E5D39E9C4D31}">
      <dsp:nvSpPr>
        <dsp:cNvPr id="0" name=""/>
        <dsp:cNvSpPr/>
      </dsp:nvSpPr>
      <dsp:spPr>
        <a:xfrm>
          <a:off x="3413926" y="1522290"/>
          <a:ext cx="787500" cy="7875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9FDEC01-D3B2-4C73-9C1C-6026830F9D72}">
      <dsp:nvSpPr>
        <dsp:cNvPr id="0" name=""/>
        <dsp:cNvSpPr/>
      </dsp:nvSpPr>
      <dsp:spPr>
        <a:xfrm>
          <a:off x="2682676" y="3029790"/>
          <a:ext cx="225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800" kern="1200"/>
            <a:t>Verified SSH: sudo nmap -p 22 192.168.2.242</a:t>
          </a:r>
        </a:p>
      </dsp:txBody>
      <dsp:txXfrm>
        <a:off x="2682676" y="3029790"/>
        <a:ext cx="2250000" cy="720000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2B9CC19-1227-46A1-BAD4-1712C22912A5}">
      <dsp:nvSpPr>
        <dsp:cNvPr id="0" name=""/>
        <dsp:cNvSpPr/>
      </dsp:nvSpPr>
      <dsp:spPr>
        <a:xfrm>
          <a:off x="778895" y="727"/>
          <a:ext cx="1166625" cy="1166625"/>
        </a:xfrm>
        <a:prstGeom prst="round2DiagRect">
          <a:avLst>
            <a:gd name="adj1" fmla="val 29727"/>
            <a:gd name="adj2" fmla="val 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700CFAE-0DEF-494F-8805-80F512491D22}">
      <dsp:nvSpPr>
        <dsp:cNvPr id="0" name=""/>
        <dsp:cNvSpPr/>
      </dsp:nvSpPr>
      <dsp:spPr>
        <a:xfrm>
          <a:off x="1027520" y="249352"/>
          <a:ext cx="669375" cy="66937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DFB26EF-AB2A-4272-BEFD-245938C18EE1}">
      <dsp:nvSpPr>
        <dsp:cNvPr id="0" name=""/>
        <dsp:cNvSpPr/>
      </dsp:nvSpPr>
      <dsp:spPr>
        <a:xfrm>
          <a:off x="405957" y="1530728"/>
          <a:ext cx="19125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300" kern="1200" dirty="0"/>
            <a:t>Command: hydra -L users.txt -P rockyou.txt ssh://192.168.2.242 -V</a:t>
          </a:r>
        </a:p>
      </dsp:txBody>
      <dsp:txXfrm>
        <a:off x="405957" y="1530728"/>
        <a:ext cx="1912500" cy="720000"/>
      </dsp:txXfrm>
    </dsp:sp>
    <dsp:sp modelId="{32AF7C8F-3FC5-4202-83B4-E7F43F35BAFF}">
      <dsp:nvSpPr>
        <dsp:cNvPr id="0" name=""/>
        <dsp:cNvSpPr/>
      </dsp:nvSpPr>
      <dsp:spPr>
        <a:xfrm>
          <a:off x="3026082" y="727"/>
          <a:ext cx="1166625" cy="1166625"/>
        </a:xfrm>
        <a:prstGeom prst="round2DiagRect">
          <a:avLst>
            <a:gd name="adj1" fmla="val 29727"/>
            <a:gd name="adj2" fmla="val 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FA3918C-3811-4D08-8180-965622088E90}">
      <dsp:nvSpPr>
        <dsp:cNvPr id="0" name=""/>
        <dsp:cNvSpPr/>
      </dsp:nvSpPr>
      <dsp:spPr>
        <a:xfrm>
          <a:off x="3274707" y="249352"/>
          <a:ext cx="669375" cy="66937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4DF8729-54D9-46F3-9659-3C954EDDC6E5}">
      <dsp:nvSpPr>
        <dsp:cNvPr id="0" name=""/>
        <dsp:cNvSpPr/>
      </dsp:nvSpPr>
      <dsp:spPr>
        <a:xfrm>
          <a:off x="2653145" y="1530728"/>
          <a:ext cx="19125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300" kern="1200"/>
            <a:t>Uses username + password lists</a:t>
          </a:r>
        </a:p>
      </dsp:txBody>
      <dsp:txXfrm>
        <a:off x="2653145" y="1530728"/>
        <a:ext cx="1912500" cy="720000"/>
      </dsp:txXfrm>
    </dsp:sp>
    <dsp:sp modelId="{A94EF586-AC83-4A13-AF91-DB475F07E176}">
      <dsp:nvSpPr>
        <dsp:cNvPr id="0" name=""/>
        <dsp:cNvSpPr/>
      </dsp:nvSpPr>
      <dsp:spPr>
        <a:xfrm>
          <a:off x="1902489" y="2728852"/>
          <a:ext cx="1166625" cy="1166625"/>
        </a:xfrm>
        <a:prstGeom prst="round2DiagRect">
          <a:avLst>
            <a:gd name="adj1" fmla="val 29727"/>
            <a:gd name="adj2" fmla="val 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BEDCE12-D312-4162-AE95-278250DE9A7C}">
      <dsp:nvSpPr>
        <dsp:cNvPr id="0" name=""/>
        <dsp:cNvSpPr/>
      </dsp:nvSpPr>
      <dsp:spPr>
        <a:xfrm>
          <a:off x="2151114" y="2977477"/>
          <a:ext cx="669375" cy="66937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436FED4-DFC9-423F-9F1B-6151EFC8782A}">
      <dsp:nvSpPr>
        <dsp:cNvPr id="0" name=""/>
        <dsp:cNvSpPr/>
      </dsp:nvSpPr>
      <dsp:spPr>
        <a:xfrm>
          <a:off x="1529551" y="4258853"/>
          <a:ext cx="19125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300" kern="1200"/>
            <a:t>Successful login found: administrator : password</a:t>
          </a:r>
        </a:p>
      </dsp:txBody>
      <dsp:txXfrm>
        <a:off x="1529551" y="4258853"/>
        <a:ext cx="1912500" cy="720000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ED89F09-5529-4B47-BA5B-7972EDD37ED1}">
      <dsp:nvSpPr>
        <dsp:cNvPr id="0" name=""/>
        <dsp:cNvSpPr/>
      </dsp:nvSpPr>
      <dsp:spPr>
        <a:xfrm>
          <a:off x="0" y="1402252"/>
          <a:ext cx="1553625" cy="2175076"/>
        </a:xfrm>
        <a:prstGeom prst="rect">
          <a:avLst/>
        </a:prstGeom>
        <a:solidFill>
          <a:schemeClr val="accent5">
            <a:tint val="40000"/>
            <a:alpha val="90000"/>
            <a:hueOff val="0"/>
            <a:satOff val="0"/>
            <a:lumOff val="0"/>
            <a:alphaOff val="0"/>
          </a:schemeClr>
        </a:solidFill>
        <a:ln w="12700" cap="rnd" cmpd="sng" algn="ctr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127" tIns="330200" rIns="121127" bIns="33020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Use strong, complex passwords</a:t>
          </a:r>
        </a:p>
      </dsp:txBody>
      <dsp:txXfrm>
        <a:off x="0" y="2228781"/>
        <a:ext cx="1553625" cy="1305045"/>
      </dsp:txXfrm>
    </dsp:sp>
    <dsp:sp modelId="{F2CEAC5F-6F8E-490D-9181-A9ECF46BAD18}">
      <dsp:nvSpPr>
        <dsp:cNvPr id="0" name=""/>
        <dsp:cNvSpPr/>
      </dsp:nvSpPr>
      <dsp:spPr>
        <a:xfrm>
          <a:off x="450551" y="1619759"/>
          <a:ext cx="652522" cy="652522"/>
        </a:xfrm>
        <a:prstGeom prst="ellipse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96000"/>
                <a:lumMod val="100000"/>
              </a:schemeClr>
            </a:gs>
            <a:gs pos="78000">
              <a:schemeClr val="accent5">
                <a:hueOff val="0"/>
                <a:satOff val="0"/>
                <a:lumOff val="0"/>
                <a:alphaOff val="0"/>
                <a:shade val="94000"/>
                <a:lumMod val="94000"/>
              </a:schemeClr>
            </a:gs>
          </a:gsLst>
          <a:lin ang="5400000" scaled="0"/>
        </a:gradFill>
        <a:ln w="12700" cap="rnd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38100" dist="254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0873" tIns="12700" rIns="50873" bIns="1270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/>
            <a:t>1</a:t>
          </a:r>
        </a:p>
      </dsp:txBody>
      <dsp:txXfrm>
        <a:off x="546111" y="1715319"/>
        <a:ext cx="461402" cy="461402"/>
      </dsp:txXfrm>
    </dsp:sp>
    <dsp:sp modelId="{1265F0E4-11AE-4B5A-92E9-570451BB662C}">
      <dsp:nvSpPr>
        <dsp:cNvPr id="0" name=""/>
        <dsp:cNvSpPr/>
      </dsp:nvSpPr>
      <dsp:spPr>
        <a:xfrm>
          <a:off x="0" y="3577256"/>
          <a:ext cx="1553625" cy="72"/>
        </a:xfrm>
        <a:prstGeom prst="rect">
          <a:avLst/>
        </a:prstGeom>
        <a:gradFill rotWithShape="0">
          <a:gsLst>
            <a:gs pos="0">
              <a:schemeClr val="accent5">
                <a:hueOff val="499051"/>
                <a:satOff val="-10098"/>
                <a:lumOff val="314"/>
                <a:alphaOff val="0"/>
                <a:tint val="96000"/>
                <a:lumMod val="100000"/>
              </a:schemeClr>
            </a:gs>
            <a:gs pos="78000">
              <a:schemeClr val="accent5">
                <a:hueOff val="499051"/>
                <a:satOff val="-10098"/>
                <a:lumOff val="314"/>
                <a:alphaOff val="0"/>
                <a:shade val="94000"/>
                <a:lumMod val="94000"/>
              </a:schemeClr>
            </a:gs>
          </a:gsLst>
          <a:lin ang="5400000" scaled="0"/>
        </a:gradFill>
        <a:ln w="12700" cap="rnd" cmpd="sng" algn="ctr">
          <a:solidFill>
            <a:schemeClr val="accent5">
              <a:hueOff val="499051"/>
              <a:satOff val="-10098"/>
              <a:lumOff val="314"/>
              <a:alphaOff val="0"/>
            </a:schemeClr>
          </a:solidFill>
          <a:prstDash val="solid"/>
        </a:ln>
        <a:effectLst>
          <a:outerShdw blurRad="38100" dist="254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EFE39045-BD45-4772-B8E9-0C3AFC3F929E}">
      <dsp:nvSpPr>
        <dsp:cNvPr id="0" name=""/>
        <dsp:cNvSpPr/>
      </dsp:nvSpPr>
      <dsp:spPr>
        <a:xfrm>
          <a:off x="1708988" y="1402252"/>
          <a:ext cx="1553625" cy="2175076"/>
        </a:xfrm>
        <a:prstGeom prst="rect">
          <a:avLst/>
        </a:prstGeom>
        <a:solidFill>
          <a:schemeClr val="accent5">
            <a:tint val="40000"/>
            <a:alpha val="90000"/>
            <a:hueOff val="1325892"/>
            <a:satOff val="-13914"/>
            <a:lumOff val="-912"/>
            <a:alphaOff val="0"/>
          </a:schemeClr>
        </a:solidFill>
        <a:ln w="12700" cap="rnd" cmpd="sng" algn="ctr">
          <a:solidFill>
            <a:schemeClr val="accent5">
              <a:tint val="40000"/>
              <a:alpha val="90000"/>
              <a:hueOff val="1325892"/>
              <a:satOff val="-13914"/>
              <a:lumOff val="-912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127" tIns="330200" rIns="121127" bIns="33020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Enable account lockout</a:t>
          </a:r>
        </a:p>
      </dsp:txBody>
      <dsp:txXfrm>
        <a:off x="1708988" y="2228781"/>
        <a:ext cx="1553625" cy="1305045"/>
      </dsp:txXfrm>
    </dsp:sp>
    <dsp:sp modelId="{F4FF5451-6CF0-4C2A-A1FF-184EAE96F05D}">
      <dsp:nvSpPr>
        <dsp:cNvPr id="0" name=""/>
        <dsp:cNvSpPr/>
      </dsp:nvSpPr>
      <dsp:spPr>
        <a:xfrm>
          <a:off x="2159540" y="1619759"/>
          <a:ext cx="652522" cy="652522"/>
        </a:xfrm>
        <a:prstGeom prst="ellipse">
          <a:avLst/>
        </a:prstGeom>
        <a:gradFill rotWithShape="0">
          <a:gsLst>
            <a:gs pos="0">
              <a:schemeClr val="accent5">
                <a:hueOff val="998102"/>
                <a:satOff val="-20196"/>
                <a:lumOff val="628"/>
                <a:alphaOff val="0"/>
                <a:tint val="96000"/>
                <a:lumMod val="100000"/>
              </a:schemeClr>
            </a:gs>
            <a:gs pos="78000">
              <a:schemeClr val="accent5">
                <a:hueOff val="998102"/>
                <a:satOff val="-20196"/>
                <a:lumOff val="628"/>
                <a:alphaOff val="0"/>
                <a:shade val="94000"/>
                <a:lumMod val="94000"/>
              </a:schemeClr>
            </a:gs>
          </a:gsLst>
          <a:lin ang="5400000" scaled="0"/>
        </a:gradFill>
        <a:ln w="12700" cap="rnd" cmpd="sng" algn="ctr">
          <a:solidFill>
            <a:schemeClr val="accent5">
              <a:hueOff val="998102"/>
              <a:satOff val="-20196"/>
              <a:lumOff val="628"/>
              <a:alphaOff val="0"/>
            </a:schemeClr>
          </a:solidFill>
          <a:prstDash val="solid"/>
        </a:ln>
        <a:effectLst>
          <a:outerShdw blurRad="38100" dist="254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0873" tIns="12700" rIns="50873" bIns="1270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/>
            <a:t>2</a:t>
          </a:r>
        </a:p>
      </dsp:txBody>
      <dsp:txXfrm>
        <a:off x="2255100" y="1715319"/>
        <a:ext cx="461402" cy="461402"/>
      </dsp:txXfrm>
    </dsp:sp>
    <dsp:sp modelId="{6403D3B1-00FC-47F5-B794-3A0381B55F4B}">
      <dsp:nvSpPr>
        <dsp:cNvPr id="0" name=""/>
        <dsp:cNvSpPr/>
      </dsp:nvSpPr>
      <dsp:spPr>
        <a:xfrm>
          <a:off x="1708988" y="3577256"/>
          <a:ext cx="1553625" cy="72"/>
        </a:xfrm>
        <a:prstGeom prst="rect">
          <a:avLst/>
        </a:prstGeom>
        <a:gradFill rotWithShape="0">
          <a:gsLst>
            <a:gs pos="0">
              <a:schemeClr val="accent5">
                <a:hueOff val="1497154"/>
                <a:satOff val="-30293"/>
                <a:lumOff val="941"/>
                <a:alphaOff val="0"/>
                <a:tint val="96000"/>
                <a:lumMod val="100000"/>
              </a:schemeClr>
            </a:gs>
            <a:gs pos="78000">
              <a:schemeClr val="accent5">
                <a:hueOff val="1497154"/>
                <a:satOff val="-30293"/>
                <a:lumOff val="941"/>
                <a:alphaOff val="0"/>
                <a:shade val="94000"/>
                <a:lumMod val="94000"/>
              </a:schemeClr>
            </a:gs>
          </a:gsLst>
          <a:lin ang="5400000" scaled="0"/>
        </a:gradFill>
        <a:ln w="12700" cap="rnd" cmpd="sng" algn="ctr">
          <a:solidFill>
            <a:schemeClr val="accent5">
              <a:hueOff val="1497154"/>
              <a:satOff val="-30293"/>
              <a:lumOff val="941"/>
              <a:alphaOff val="0"/>
            </a:schemeClr>
          </a:solidFill>
          <a:prstDash val="solid"/>
        </a:ln>
        <a:effectLst>
          <a:outerShdw blurRad="38100" dist="254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F25AC907-70B4-4824-9933-9107478DA030}">
      <dsp:nvSpPr>
        <dsp:cNvPr id="0" name=""/>
        <dsp:cNvSpPr/>
      </dsp:nvSpPr>
      <dsp:spPr>
        <a:xfrm>
          <a:off x="3417977" y="1402252"/>
          <a:ext cx="1553625" cy="2175076"/>
        </a:xfrm>
        <a:prstGeom prst="rect">
          <a:avLst/>
        </a:prstGeom>
        <a:solidFill>
          <a:schemeClr val="accent5">
            <a:tint val="40000"/>
            <a:alpha val="90000"/>
            <a:hueOff val="2651784"/>
            <a:satOff val="-27828"/>
            <a:lumOff val="-1825"/>
            <a:alphaOff val="0"/>
          </a:schemeClr>
        </a:solidFill>
        <a:ln w="12700" cap="rnd" cmpd="sng" algn="ctr">
          <a:solidFill>
            <a:schemeClr val="accent5">
              <a:tint val="40000"/>
              <a:alpha val="90000"/>
              <a:hueOff val="2651784"/>
              <a:satOff val="-27828"/>
              <a:lumOff val="-1825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127" tIns="330200" rIns="121127" bIns="33020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Use SSH keys or enable MFA</a:t>
          </a:r>
        </a:p>
      </dsp:txBody>
      <dsp:txXfrm>
        <a:off x="3417977" y="2228781"/>
        <a:ext cx="1553625" cy="1305045"/>
      </dsp:txXfrm>
    </dsp:sp>
    <dsp:sp modelId="{0DDDB052-49F6-434D-9C58-2BC9C94167F5}">
      <dsp:nvSpPr>
        <dsp:cNvPr id="0" name=""/>
        <dsp:cNvSpPr/>
      </dsp:nvSpPr>
      <dsp:spPr>
        <a:xfrm>
          <a:off x="3868528" y="1619759"/>
          <a:ext cx="652522" cy="652522"/>
        </a:xfrm>
        <a:prstGeom prst="ellipse">
          <a:avLst/>
        </a:prstGeom>
        <a:gradFill rotWithShape="0">
          <a:gsLst>
            <a:gs pos="0">
              <a:schemeClr val="accent5">
                <a:hueOff val="1996205"/>
                <a:satOff val="-40391"/>
                <a:lumOff val="1255"/>
                <a:alphaOff val="0"/>
                <a:tint val="96000"/>
                <a:lumMod val="100000"/>
              </a:schemeClr>
            </a:gs>
            <a:gs pos="78000">
              <a:schemeClr val="accent5">
                <a:hueOff val="1996205"/>
                <a:satOff val="-40391"/>
                <a:lumOff val="1255"/>
                <a:alphaOff val="0"/>
                <a:shade val="94000"/>
                <a:lumMod val="94000"/>
              </a:schemeClr>
            </a:gs>
          </a:gsLst>
          <a:lin ang="5400000" scaled="0"/>
        </a:gradFill>
        <a:ln w="12700" cap="rnd" cmpd="sng" algn="ctr">
          <a:solidFill>
            <a:schemeClr val="accent5">
              <a:hueOff val="1996205"/>
              <a:satOff val="-40391"/>
              <a:lumOff val="1255"/>
              <a:alphaOff val="0"/>
            </a:schemeClr>
          </a:solidFill>
          <a:prstDash val="solid"/>
        </a:ln>
        <a:effectLst>
          <a:outerShdw blurRad="38100" dist="254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0873" tIns="12700" rIns="50873" bIns="1270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/>
            <a:t>3</a:t>
          </a:r>
        </a:p>
      </dsp:txBody>
      <dsp:txXfrm>
        <a:off x="3964088" y="1715319"/>
        <a:ext cx="461402" cy="461402"/>
      </dsp:txXfrm>
    </dsp:sp>
    <dsp:sp modelId="{19A82DF4-6A58-4845-8481-67CC0B0138BE}">
      <dsp:nvSpPr>
        <dsp:cNvPr id="0" name=""/>
        <dsp:cNvSpPr/>
      </dsp:nvSpPr>
      <dsp:spPr>
        <a:xfrm>
          <a:off x="3417977" y="3577256"/>
          <a:ext cx="1553625" cy="72"/>
        </a:xfrm>
        <a:prstGeom prst="rect">
          <a:avLst/>
        </a:prstGeom>
        <a:gradFill rotWithShape="0">
          <a:gsLst>
            <a:gs pos="0">
              <a:schemeClr val="accent5">
                <a:hueOff val="2495256"/>
                <a:satOff val="-50489"/>
                <a:lumOff val="1569"/>
                <a:alphaOff val="0"/>
                <a:tint val="96000"/>
                <a:lumMod val="100000"/>
              </a:schemeClr>
            </a:gs>
            <a:gs pos="78000">
              <a:schemeClr val="accent5">
                <a:hueOff val="2495256"/>
                <a:satOff val="-50489"/>
                <a:lumOff val="1569"/>
                <a:alphaOff val="0"/>
                <a:shade val="94000"/>
                <a:lumMod val="94000"/>
              </a:schemeClr>
            </a:gs>
          </a:gsLst>
          <a:lin ang="5400000" scaled="0"/>
        </a:gradFill>
        <a:ln w="12700" cap="rnd" cmpd="sng" algn="ctr">
          <a:solidFill>
            <a:schemeClr val="accent5">
              <a:hueOff val="2495256"/>
              <a:satOff val="-50489"/>
              <a:lumOff val="1569"/>
              <a:alphaOff val="0"/>
            </a:schemeClr>
          </a:solidFill>
          <a:prstDash val="solid"/>
        </a:ln>
        <a:effectLst>
          <a:outerShdw blurRad="38100" dist="254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6/7/layout/VerticalSolidActionList">
  <dgm:title val="Vertical Solid Action List"/>
  <dgm:desc val="Use to show non-sequential or grouped lists of information. Works well with large amounts of text. All text has the same level of emphasis, and direction is not implied."/>
  <dgm:catLst>
    <dgm:cat type="list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41">
          <dgm:prSet phldr="1"/>
        </dgm:pt>
        <dgm:pt modelId="5">
          <dgm:prSet phldr="1"/>
        </dgm:pt>
        <dgm:pt modelId="51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7" srcId="0" destId="4" srcOrd="3" destOrd="0"/>
        <dgm:cxn modelId="8" srcId="0" destId="5" srcOrd="4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  <dgm:cxn modelId="53" srcId="5" destId="5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6"/>
      <dgm:constr type="primFontSz" for="des" forName="parentText" op="equ" val="28"/>
      <dgm:constr type="primFontSz" for="des" forName="descendantText" refType="primFontSz" refFor="des" refForName="parentText" op="lte" fact="0.82"/>
      <dgm:constr type="primFontSz" for="des" forName="parentText" refType="primFontSz" refFor="des" refForName="descendantText" op="lte" fact="1.25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2"/>
          <dgm:constr type="w" for="ch" forName="descendantText" refType="w" fact="0.8"/>
          <dgm:constr type="h" for="ch" forName="parentText" refType="h"/>
          <dgm:constr type="h" for="ch" forName="descendantText" refType="h" refFor="ch" refForName="parentText"/>
        </dgm:constrLst>
        <dgm:ruleLst/>
        <dgm:layoutNode name="parentText" styleLbl="alignNode1">
          <dgm:varLst>
            <dgm:chMax val="1"/>
            <dgm:bulletEnabled/>
          </dgm:varLst>
          <dgm:alg type="tx"/>
          <dgm:shape xmlns:r="http://schemas.openxmlformats.org/officeDocument/2006/relationships" type="rect" r:blip="" zOrderOff="3">
            <dgm:adjLst/>
          </dgm:shape>
          <dgm:presOf axis="self" ptType="node"/>
          <dgm:constrLst>
            <dgm:constr type="tMarg" refType="h" fact="0.28"/>
            <dgm:constr type="bMarg" refType="h" fact="0.28"/>
            <dgm:constr type="lMarg" refType="w" fact="0.15"/>
            <dgm:constr type="rMarg" refType="w" fact="0.15"/>
          </dgm:constrLst>
          <dgm:ruleLst>
            <dgm:rule type="primFontSz" val="15" fact="NaN" max="NaN"/>
          </dgm:ruleLst>
        </dgm:layoutNode>
        <dgm:layoutNode name="descendantText" styleLbl="alignAccFollowNode1">
          <dgm:varLst>
            <dgm:bulletEnabled/>
          </dgm:varLst>
          <dgm:alg type="tx">
            <dgm:param type="stBulletLvl" val="0"/>
            <dgm:param type="parTxLTRAlign" val="l"/>
            <dgm:param type="shpTxLTRAlignCh" val="l"/>
            <dgm:param type="parTxRTLAlign" val="r"/>
            <dgm:param type="shpTxRTLAlignCh" val="r"/>
          </dgm:alg>
          <dgm:choose name="Name10">
            <dgm:if name="Name11" func="var" arg="dir" op="equ" val="norm">
              <dgm:shape xmlns:r="http://schemas.openxmlformats.org/officeDocument/2006/relationships" type="rect" r:blip="">
                <dgm:adjLst/>
              </dgm:shape>
            </dgm:if>
            <dgm:else name="Name12">
              <dgm:shape xmlns:r="http://schemas.openxmlformats.org/officeDocument/2006/relationships" type="rect" r:blip="">
                <dgm:adjLst/>
              </dgm:shape>
            </dgm:else>
          </dgm:choose>
          <dgm:presOf axis="des" ptType="node"/>
          <dgm:constrLst>
            <dgm:constr type="primFontSz" val="24"/>
            <dgm:constr type="lMarg" refType="w" fact="0.055"/>
            <dgm:constr type="rMarg" refType="w" fact="0.055"/>
            <dgm:constr type="tMarg" refType="h" fact="0.72"/>
            <dgm:constr type="bMarg" refType="h" fact="0.72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5/layout/IconLeafLabelList">
  <dgm:title val="Icon Leaf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round2DiagRect" r:blip="">
            <dgm:adjLst/>
            <dgm:extLst>
              <a:ext uri="{B698B0E9-8C71-41B9-8309-B3DCBF30829C}">
                <dgm1612:spPr xmlns:dgm1612="http://schemas.microsoft.com/office/drawing/2016/12/diagram">
                  <a:prstGeom prst="round2DiagRect">
                    <a:avLst>
                      <a:gd name="adj1" fmla="val 29727"/>
                      <a:gd name="adj2" fmla="val 0"/>
                    </a:avLst>
                  </a:prstGeom>
                </dgm1612:spPr>
              </a:ext>
            </dgm:ext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18/5/layout/IconLeafLabelList">
  <dgm:title val="Icon Leaf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round2DiagRect" r:blip="">
            <dgm:adjLst/>
            <dgm:extLst>
              <a:ext uri="{B698B0E9-8C71-41B9-8309-B3DCBF30829C}">
                <dgm1612:spPr xmlns:dgm1612="http://schemas.microsoft.com/office/drawing/2016/12/diagram">
                  <a:prstGeom prst="round2DiagRect">
                    <a:avLst>
                      <a:gd name="adj1" fmla="val 29727"/>
                      <a:gd name="adj2" fmla="val 0"/>
                    </a:avLst>
                  </a:prstGeom>
                </dgm1612:spPr>
              </a:ext>
            </dgm:ext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16/7/layout/BasicLinearProcessNumbered">
  <dgm:title val="Basic Linear Process Numbered"/>
  <dgm:desc val="Used to show a progression; a timeline; sequential steps in a task, process, or workflow; or to emphasize movement or direction. Automatic numbers have been introduced to show the steps of the process which appears in a circle. Level 1 and Level 2 text appear in a rectangle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101" type="sibTrans" cxnId="4">
          <dgm:prSet phldrT="1"/>
          <dgm:t>
            <a:bodyPr/>
            <a:lstStyle/>
            <a:p>
              <a:r>
                <a:t>1</a:t>
              </a:r>
            </a:p>
          </dgm:t>
        </dgm:pt>
        <dgm:pt modelId="201" type="sibTrans" cxnId="5">
          <dgm:prSet phldrT="2"/>
          <dgm:t>
            <a:bodyPr/>
            <a:lstStyle/>
            <a:p>
              <a:r>
                <a:t>2</a:t>
              </a:r>
            </a:p>
          </dgm:t>
        </dgm:pt>
        <dgm:pt modelId="301" type="sibTrans" cxnId="6">
          <dgm:prSet phldrT="3"/>
          <dgm:t>
            <a:bodyPr/>
            <a:lstStyle/>
            <a:p>
              <a:r>
                <a:t>3</a:t>
              </a:r>
            </a:p>
          </dgm:t>
        </dgm:pt>
      </dgm:ptLst>
      <dgm:cxnLst>
        <dgm:cxn modelId="4" srcId="0" destId="1" srcOrd="0" destOrd="0" sibTransId="101"/>
        <dgm:cxn modelId="5" srcId="0" destId="2" srcOrd="1" destOrd="0" sibTransId="201"/>
        <dgm:cxn modelId="6" srcId="0" destId="3" srcOrd="2" destOrd="0" sibTransId="301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animLvl val="lvl"/>
      <dgm:resizeHandles val="exact"/>
    </dgm:varLst>
    <dgm:alg type="lin">
      <dgm:param type="linDir" val="fromL"/>
      <dgm:param type="nodeVertAlign" val="t"/>
    </dgm:alg>
    <dgm:shape xmlns:r="http://schemas.openxmlformats.org/officeDocument/2006/relationships" r:blip="">
      <dgm:adjLst/>
    </dgm:shape>
    <dgm:presOf/>
    <dgm:constrLst>
      <dgm:constr type="h" for="ch" forName="compositeNode" refType="h"/>
      <dgm:constr type="w" for="ch" forName="compositeNode" refType="w"/>
      <dgm:constr type="w" for="des" forName="simulatedConn" refType="w" refFor="ch" refForName="compositeNode" fact="0.15"/>
      <dgm:constr type="h" for="des" forName="simulatedConn" refType="w" refFor="des" refForName="simulatedConn"/>
      <dgm:constr type="h" for="des" forName="vSp1" refType="w" refFor="ch" refForName="compositeNode" fact="0.8"/>
      <dgm:constr type="h" for="des" forName="vSp2" refType="w" refFor="ch" refForName="compositeNode" fact="0.07"/>
      <dgm:constr type="w" for="ch" forName="vProcSp" refType="w" refFor="des" refForName="simulatedConn" op="equ"/>
      <dgm:constr type="h" for="ch" forName="vProcSp" refType="h" refFor="ch" refForName="compositeNode" op="equ"/>
      <dgm:constr type="w" for="ch" forName="sibTrans" refType="w" refFor="ch" refForName="compositeNode" fact="0.1"/>
      <dgm:constr type="primFontSz" for="des" forName="sibTransNodeCircle" op="equ"/>
      <dgm:constr type="primFontSz" for="des" forName="nodeText" op="equ"/>
      <dgm:constr type="h" for="des" forName="sibTransNodeCircle" op="equ"/>
      <dgm:constr type="w" for="des" forName="sibTransNodeCircle" op="equ"/>
    </dgm:constrLst>
    <dgm:ruleLst>
      <dgm:rule type="h" val="NaN" fact="1.2" max="NaN"/>
    </dgm:ruleLst>
    <dgm:forEach name="Name4" axis="ch" ptType="node">
      <dgm:layoutNode name="compositeNode">
        <dgm:varLst>
          <dgm:bulletEnabled val="1"/>
        </dgm:varLst>
        <dgm:alg type="composite"/>
        <dgm:constrLst>
          <dgm:constr type="h" refType="w" op="lte" fact="1.4"/>
          <dgm:constr type="w" for="ch" forName="bgRect" refType="w"/>
          <dgm:constr type="h" for="ch" forName="bgRect" refType="h"/>
          <dgm:constr type="t" for="ch" forName="bgRect"/>
          <dgm:constr type="l" for="ch" forName="bgRect"/>
          <dgm:constr type="h" for="ch" forName="sibTransNodeCircle" refType="h" refFor="ch" refForName="bgRect" fact="0.3"/>
          <dgm:constr type="w" for="ch" forName="sibTransNodeCircle" refType="h" refFor="ch" refForName="sibTransNodeCircle"/>
          <dgm:constr type="ctrX" for="ch" forName="sibTransNodeCircle" refType="w" fact="0.5"/>
          <dgm:constr type="ctrY" for="ch" forName="sibTransNodeCircle" refType="h" fact="0.25"/>
          <dgm:constr type="r" for="ch" forName="nodeText" refType="r" refFor="ch" refForName="bgRect"/>
          <dgm:constr type="h" for="ch" forName="nodeText" refType="h" refFor="ch" refForName="bgRect" fact="0.6"/>
          <dgm:constr type="t" for="ch" forName="nodeText" refType="h" refFor="ch" refForName="bgRect" fact="0.38"/>
          <dgm:constr type="b" for="ch" forName="bottomLine" refType="b" refFor="ch" refForName="bgRect"/>
          <dgm:constr type="w" for="ch" forName="bottomLine" refType="w" refFor="ch" refForName="bgRect"/>
          <dgm:constr type="h" for="ch" forName="bottomLine" val="0.002"/>
        </dgm:constrLst>
        <dgm:ruleLst/>
        <dgm:layoutNode name="bgRect" styleLbl="bgAccFollowNode1">
          <dgm:alg type="sp"/>
          <dgm:shape xmlns:r="http://schemas.openxmlformats.org/officeDocument/2006/relationships" type="rect" r:blip="">
            <dgm:adjLst/>
          </dgm:shape>
          <dgm:presOf axis="self"/>
          <dgm:constrLst/>
          <dgm:ruleLst/>
        </dgm:layoutNode>
        <dgm:forEach name="Name19" axis="followSib" ptType="sibTrans" hideLastTrans="0" cnt="1">
          <dgm:layoutNode name="sibTransNodeCircle" styleLbl="alignNode1">
            <dgm:varLst>
              <dgm:chMax val="0"/>
              <dgm:bulletEnabled/>
            </dgm:varLst>
            <dgm:presOf axis="self" ptType="sibTrans"/>
            <dgm:alg type="tx">
              <dgm:param type="txAnchorVert" val="mid"/>
              <dgm:param type="txAnchorHorzCh" val="ctr"/>
            </dgm:alg>
            <dgm:shape xmlns:r="http://schemas.openxmlformats.org/officeDocument/2006/relationships" type="ellipse" r:blip="">
              <dgm:adjLst/>
            </dgm:shape>
            <dgm:constrLst>
              <dgm:constr type="w" refType="h" op="lte"/>
              <dgm:constr type="primFontSz" val="48"/>
              <dgm:constr type="tMarg" val="1"/>
              <dgm:constr type="lMarg" refType="w" fact="0.221"/>
              <dgm:constr type="rMarg" refType="w" fact="0.221"/>
              <dgm:constr type="bMarg" val="1"/>
            </dgm:constrLst>
            <dgm:ruleLst>
              <dgm:rule type="primFontSz" val="14" fact="NaN" max="NaN"/>
            </dgm:ruleLst>
          </dgm:layoutNode>
        </dgm:forEach>
        <dgm:layoutNode name="bottomLine" styleLbl="alignNode1">
          <dgm:varLst/>
          <dgm:presOf/>
          <dgm:alg type="sp"/>
          <dgm:shape xmlns:r="http://schemas.openxmlformats.org/officeDocument/2006/relationships" type="rect" r:blip="">
            <dgm:adjLst/>
          </dgm:shape>
          <dgm:constrLst/>
          <dgm:ruleLst/>
        </dgm:layoutNode>
        <dgm:layoutNode name="nodeText" styleLbl="bgAccFollowNode1" moveWith="bgRect">
          <dgm:varLst>
            <dgm:bulletEnabled val="1"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 zOrderOff="-1" hideGeom="1">
            <dgm:adjLst/>
          </dgm:shape>
          <dgm:presOf axis="desOrSelf" ptType="node"/>
          <dgm:constrLst>
            <dgm:constr type="primFontSz" val="26"/>
            <dgm:constr type="tMarg" val="26"/>
            <dgm:constr type="lMarg" refType="w" fact="0.221"/>
            <dgm:constr type="rMarg" refType="w" fact="0.221"/>
            <dgm:constr type="bMarg" val="26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  <dgm:extLst>
    <a:ext uri="{4F341089-5ED1-44EC-B178-C955D00A3D55}">
      <dgm1611:autoBuNodeInfoLst xmlns:dgm1611="http://schemas.microsoft.com/office/drawing/2016/11/diagram">
        <dgm1611:autoBuNodeInfo lvl="1" ptType="sibTrans">
          <dgm1611:buPr prefix="" leadZeros="0">
            <a:buAutoNum type="arabicParenBoth"/>
          </dgm1611:buPr>
        </dgm1611:autoBuNodeInfo>
      </dgm1611:autoBuNodeInfoLst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D56EF6E-6899-4D31-A818-0A7BFE74B939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EC5F793-0C3D-4812-9BDB-19CB454984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75349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Script:</a:t>
            </a:r>
            <a:r>
              <a:rPr lang="en-US" dirty="0"/>
              <a:t> "Hello everyone, and thank you for being here. Today, I’ll be walking you through a cybersecurity project that focuses on two commonly used network attacks: a </a:t>
            </a:r>
            <a:r>
              <a:rPr lang="en-US" b="1" dirty="0"/>
              <a:t>UDP Port Scan</a:t>
            </a:r>
            <a:r>
              <a:rPr lang="en-US" dirty="0"/>
              <a:t> and an </a:t>
            </a:r>
            <a:r>
              <a:rPr lang="en-US" b="1" dirty="0"/>
              <a:t>SSH Brute Force Attack</a:t>
            </a:r>
            <a:r>
              <a:rPr lang="en-US" dirty="0"/>
              <a:t>. These attack techniques are often used by ethical hackers and penetration testers to assess vulnerabilities in systems — and unfortunately, also by malicious actors to gain unauthorized access. By understanding how these attacks work, we can better secure our systems and networks."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C5F793-0C3D-4812-9BDB-19CB4549849A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497245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r>
              <a:rPr lang="en-US" dirty="0"/>
              <a:t>"I started with a </a:t>
            </a:r>
            <a:r>
              <a:rPr lang="en-US" b="1" dirty="0"/>
              <a:t>UDP Port Scan</a:t>
            </a:r>
            <a:r>
              <a:rPr lang="en-US" dirty="0"/>
              <a:t> using a tool called Nmap — one of the most widely used network scanning tools out there. The target machine had an IP address of 192.168.2.242, and the command I used was:</a:t>
            </a:r>
          </a:p>
          <a:p>
            <a:pPr rtl="0">
              <a:buNone/>
            </a:pPr>
            <a:r>
              <a:rPr lang="en-US" dirty="0" err="1"/>
              <a:t>sudo</a:t>
            </a:r>
            <a:r>
              <a:rPr lang="en-US" dirty="0"/>
              <a:t> </a:t>
            </a:r>
            <a:r>
              <a:rPr lang="en-US" dirty="0" err="1"/>
              <a:t>nmap</a:t>
            </a:r>
            <a:r>
              <a:rPr lang="en-US" dirty="0"/>
              <a:t> -</a:t>
            </a:r>
            <a:r>
              <a:rPr lang="en-US" dirty="0" err="1"/>
              <a:t>sU</a:t>
            </a:r>
            <a:r>
              <a:rPr lang="en-US" dirty="0"/>
              <a:t> -p- 192.168.2.242 </a:t>
            </a:r>
          </a:p>
          <a:p>
            <a:r>
              <a:rPr lang="en-US" dirty="0"/>
              <a:t>This command scans </a:t>
            </a:r>
            <a:r>
              <a:rPr lang="en-US" b="1" dirty="0"/>
              <a:t>all 65,535 UDP ports</a:t>
            </a:r>
            <a:r>
              <a:rPr lang="en-US" dirty="0"/>
              <a:t> on the target, helping detect services like </a:t>
            </a:r>
            <a:r>
              <a:rPr lang="en-US" b="1" dirty="0"/>
              <a:t>DNS</a:t>
            </a:r>
            <a:r>
              <a:rPr lang="en-US" dirty="0"/>
              <a:t>, </a:t>
            </a:r>
            <a:r>
              <a:rPr lang="en-US" b="1" dirty="0"/>
              <a:t>SNMP</a:t>
            </a:r>
            <a:r>
              <a:rPr lang="en-US" dirty="0"/>
              <a:t>, or </a:t>
            </a:r>
            <a:r>
              <a:rPr lang="en-US" b="1" dirty="0"/>
              <a:t>VPNs</a:t>
            </a:r>
            <a:r>
              <a:rPr lang="en-US" dirty="0"/>
              <a:t> that run over the UDP protocol. Unlike TCP scans, UDP scans don’t establish a connection, which makes them </a:t>
            </a:r>
            <a:r>
              <a:rPr lang="en-US" b="1" dirty="0"/>
              <a:t>stealthy</a:t>
            </a:r>
            <a:r>
              <a:rPr lang="en-US" dirty="0"/>
              <a:t> but also </a:t>
            </a:r>
            <a:r>
              <a:rPr lang="en-US" b="1" dirty="0"/>
              <a:t>slower and less reliable</a:t>
            </a:r>
            <a:r>
              <a:rPr lang="en-US" dirty="0"/>
              <a:t>. Often, open ports don’t respond at all, while closed ports reply with ICMP errors — so interpreting the results takes a bit of experience."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C5F793-0C3D-4812-9BDB-19CB4549849A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084037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Here is the output of that command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C5F793-0C3D-4812-9BDB-19CB4549849A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038765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r>
              <a:rPr lang="en-US" dirty="0"/>
              <a:t>"To analyze the network traffic in real-time during the scan, I used </a:t>
            </a:r>
            <a:r>
              <a:rPr lang="en-US" b="1" dirty="0"/>
              <a:t>Wireshark</a:t>
            </a:r>
            <a:r>
              <a:rPr lang="en-US" dirty="0"/>
              <a:t>, a packet analyzer. By applying a filter </a:t>
            </a:r>
            <a:r>
              <a:rPr lang="en-US" dirty="0" err="1"/>
              <a:t>udp</a:t>
            </a:r>
            <a:r>
              <a:rPr lang="en-US" dirty="0"/>
              <a:t>, I could see the exact packets being sent and received.</a:t>
            </a:r>
          </a:p>
          <a:p>
            <a:r>
              <a:rPr lang="en-US" dirty="0"/>
              <a:t>Since UDP is </a:t>
            </a:r>
            <a:r>
              <a:rPr lang="en-US" b="1" dirty="0"/>
              <a:t>connectionless</a:t>
            </a:r>
            <a:r>
              <a:rPr lang="en-US" dirty="0"/>
              <a:t>, there’s no handshake like in TCP. That’s why packet responses differ — for example, an open port might show </a:t>
            </a:r>
            <a:r>
              <a:rPr lang="en-US" b="1" dirty="0"/>
              <a:t>no response</a:t>
            </a:r>
            <a:r>
              <a:rPr lang="en-US" dirty="0"/>
              <a:t>, while a closed one returns an </a:t>
            </a:r>
            <a:r>
              <a:rPr lang="en-US" b="1" dirty="0"/>
              <a:t>ICMP 'port unreachable'</a:t>
            </a:r>
            <a:r>
              <a:rPr lang="en-US" dirty="0"/>
              <a:t> message. This uncertainty is what makes UDP scans harder to detect — but also harder to interpret."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C5F793-0C3D-4812-9BDB-19CB4549849A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536693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Here is the screenshot of </a:t>
            </a:r>
            <a:r>
              <a:rPr lang="en-US" dirty="0" err="1"/>
              <a:t>wireshark</a:t>
            </a:r>
            <a:r>
              <a:rPr lang="en-US" dirty="0"/>
              <a:t> packets caught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C5F793-0C3D-4812-9BDB-19CB4549849A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381817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r>
              <a:rPr lang="en-US" b="1" dirty="0"/>
              <a:t>Script:</a:t>
            </a:r>
            <a:r>
              <a:rPr lang="en-US" dirty="0"/>
              <a:t> "There are several reasons why UDP is a favorite target for attackers: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First, the lack of a handshake means scans can go </a:t>
            </a:r>
            <a:r>
              <a:rPr lang="en-US" b="1" dirty="0"/>
              <a:t>undetected</a:t>
            </a:r>
            <a:r>
              <a:rPr lang="en-US" dirty="0"/>
              <a:t> by traditional security tools like firewalls and intrusion detection systems.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Second, many </a:t>
            </a:r>
            <a:r>
              <a:rPr lang="en-US" b="1" dirty="0"/>
              <a:t>legacy systems and devices still use outdated or insecure UDP services</a:t>
            </a:r>
            <a:r>
              <a:rPr lang="en-US" dirty="0"/>
              <a:t>, making them easy to exploit.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And third, attackers can use this information for further attacks like </a:t>
            </a:r>
            <a:r>
              <a:rPr lang="en-US" b="1" dirty="0"/>
              <a:t>DDoS amplification</a:t>
            </a:r>
            <a:r>
              <a:rPr lang="en-US" dirty="0"/>
              <a:t>, or as entry points for lateral movement in the network."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C5F793-0C3D-4812-9BDB-19CB4549849A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805454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C5F793-0C3D-4812-9BDB-19CB4549849A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9372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r>
              <a:rPr lang="en-US" dirty="0"/>
              <a:t>"After identifying open UDP ports, I targeted a few specific ones with:</a:t>
            </a:r>
          </a:p>
          <a:p>
            <a:pPr>
              <a:buNone/>
            </a:pPr>
            <a:r>
              <a:rPr lang="en-US" dirty="0"/>
              <a:t>bash</a:t>
            </a:r>
          </a:p>
          <a:p>
            <a:pPr>
              <a:buNone/>
            </a:pPr>
            <a:r>
              <a:rPr lang="en-US" dirty="0" err="1"/>
              <a:t>CopyEdit</a:t>
            </a:r>
            <a:endParaRPr lang="en-US" dirty="0"/>
          </a:p>
          <a:p>
            <a:pPr rtl="0">
              <a:buNone/>
            </a:pPr>
            <a:r>
              <a:rPr lang="en-US" dirty="0" err="1"/>
              <a:t>sudo</a:t>
            </a:r>
            <a:r>
              <a:rPr lang="en-US" dirty="0"/>
              <a:t> </a:t>
            </a:r>
            <a:r>
              <a:rPr lang="en-US" dirty="0" err="1"/>
              <a:t>nmap</a:t>
            </a:r>
            <a:r>
              <a:rPr lang="en-US" dirty="0"/>
              <a:t> -</a:t>
            </a:r>
            <a:r>
              <a:rPr lang="en-US" dirty="0" err="1"/>
              <a:t>sU</a:t>
            </a:r>
            <a:r>
              <a:rPr lang="en-US" dirty="0"/>
              <a:t> -p 53,161,500 192.168.2.242 </a:t>
            </a:r>
          </a:p>
          <a:p>
            <a:pPr>
              <a:buNone/>
            </a:pPr>
            <a:r>
              <a:rPr lang="en-US" dirty="0"/>
              <a:t>These ports correspond to </a:t>
            </a:r>
            <a:r>
              <a:rPr lang="en-US" b="1" dirty="0"/>
              <a:t>DNS (53)</a:t>
            </a:r>
            <a:r>
              <a:rPr lang="en-US" dirty="0"/>
              <a:t>, </a:t>
            </a:r>
            <a:r>
              <a:rPr lang="en-US" b="1" dirty="0"/>
              <a:t>SNMP (161)</a:t>
            </a:r>
            <a:r>
              <a:rPr lang="en-US" dirty="0"/>
              <a:t>, and </a:t>
            </a:r>
            <a:r>
              <a:rPr lang="en-US" b="1" dirty="0"/>
              <a:t>IPSec VPN (500)</a:t>
            </a:r>
            <a:r>
              <a:rPr lang="en-US" dirty="0"/>
              <a:t>. If these services are exposed and unpatched, they can be used to extract sensitive info or launch further attacks.</a:t>
            </a:r>
          </a:p>
          <a:p>
            <a:pPr>
              <a:buNone/>
            </a:pPr>
            <a:r>
              <a:rPr lang="en-US" dirty="0"/>
              <a:t>I also used:</a:t>
            </a:r>
          </a:p>
          <a:p>
            <a:pPr>
              <a:buNone/>
            </a:pPr>
            <a:r>
              <a:rPr lang="en-US" dirty="0"/>
              <a:t>bash</a:t>
            </a:r>
          </a:p>
          <a:p>
            <a:pPr>
              <a:buNone/>
            </a:pPr>
            <a:r>
              <a:rPr lang="en-US" dirty="0" err="1"/>
              <a:t>CopyEdit</a:t>
            </a:r>
            <a:endParaRPr lang="en-US" dirty="0"/>
          </a:p>
          <a:p>
            <a:pPr rtl="0">
              <a:buNone/>
            </a:pPr>
            <a:r>
              <a:rPr lang="en-US" dirty="0" err="1"/>
              <a:t>nbtscan</a:t>
            </a:r>
            <a:r>
              <a:rPr lang="en-US" dirty="0"/>
              <a:t> 192.168.2.242 </a:t>
            </a:r>
          </a:p>
          <a:p>
            <a:r>
              <a:rPr lang="en-US" dirty="0"/>
              <a:t>This helped me gather </a:t>
            </a:r>
            <a:r>
              <a:rPr lang="en-US" b="1" dirty="0"/>
              <a:t>NetBIOS info</a:t>
            </a:r>
            <a:r>
              <a:rPr lang="en-US" dirty="0"/>
              <a:t> like the hostname and workgroup — which can be useful for planning attacks on file shares or figuring out the network topology."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C5F793-0C3D-4812-9BDB-19CB4549849A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730175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r>
              <a:rPr lang="en-US" dirty="0"/>
              <a:t>"So how do we defend against this?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Disable unused UDP services</a:t>
            </a:r>
            <a:r>
              <a:rPr lang="en-US" dirty="0"/>
              <a:t> — if you don’t need it, don’t run it.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Use a </a:t>
            </a:r>
            <a:r>
              <a:rPr lang="en-US" b="1" dirty="0"/>
              <a:t>stateful firewall</a:t>
            </a:r>
            <a:r>
              <a:rPr lang="en-US" dirty="0"/>
              <a:t> that can track UDP session behavior, even though it's harder than with TCP.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Most importantly, </a:t>
            </a:r>
            <a:r>
              <a:rPr lang="en-US" b="1" dirty="0"/>
              <a:t>monitor UDP traffic continuously</a:t>
            </a:r>
            <a:r>
              <a:rPr lang="en-US" dirty="0"/>
              <a:t>. Set up alerts for unusual spikes or patterns in your logs. Even if an attacker gets through once, catching them early is key."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C5F793-0C3D-4812-9BDB-19CB4549849A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056857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r>
              <a:rPr lang="en-US" dirty="0"/>
              <a:t>"Next, I focused on a more direct form of attack — an </a:t>
            </a:r>
            <a:r>
              <a:rPr lang="en-US" b="1" dirty="0"/>
              <a:t>SSH brute force attack</a:t>
            </a:r>
            <a:r>
              <a:rPr lang="en-US" dirty="0"/>
              <a:t> on port 22. This is where an attacker tries hundreds or thousands of login combinations to find the right credentials.</a:t>
            </a:r>
          </a:p>
          <a:p>
            <a:pPr>
              <a:buNone/>
            </a:pPr>
            <a:r>
              <a:rPr lang="en-US" dirty="0"/>
              <a:t>I first made sure the target was live using:</a:t>
            </a:r>
          </a:p>
          <a:p>
            <a:pPr>
              <a:buNone/>
            </a:pPr>
            <a:r>
              <a:rPr lang="en-US" dirty="0"/>
              <a:t>bash</a:t>
            </a:r>
          </a:p>
          <a:p>
            <a:pPr>
              <a:buNone/>
            </a:pPr>
            <a:r>
              <a:rPr lang="en-US" dirty="0" err="1"/>
              <a:t>CopyEdit</a:t>
            </a:r>
            <a:endParaRPr lang="en-US" dirty="0"/>
          </a:p>
          <a:p>
            <a:pPr rtl="0">
              <a:buNone/>
            </a:pPr>
            <a:r>
              <a:rPr lang="en-US" dirty="0" err="1"/>
              <a:t>sudo</a:t>
            </a:r>
            <a:r>
              <a:rPr lang="en-US" dirty="0"/>
              <a:t> </a:t>
            </a:r>
            <a:r>
              <a:rPr lang="en-US" dirty="0" err="1"/>
              <a:t>nmap</a:t>
            </a:r>
            <a:r>
              <a:rPr lang="en-US" dirty="0"/>
              <a:t> -</a:t>
            </a:r>
            <a:r>
              <a:rPr lang="en-US" dirty="0" err="1"/>
              <a:t>sn</a:t>
            </a:r>
            <a:r>
              <a:rPr lang="en-US" dirty="0"/>
              <a:t> 192.168.2.242 </a:t>
            </a:r>
          </a:p>
          <a:p>
            <a:pPr>
              <a:buNone/>
            </a:pPr>
            <a:r>
              <a:rPr lang="en-US" dirty="0"/>
              <a:t>Then, I checked that </a:t>
            </a:r>
            <a:r>
              <a:rPr lang="en-US" b="1" dirty="0"/>
              <a:t>SSH was open</a:t>
            </a:r>
            <a:r>
              <a:rPr lang="en-US" dirty="0"/>
              <a:t> using:</a:t>
            </a:r>
          </a:p>
          <a:p>
            <a:pPr>
              <a:buNone/>
            </a:pPr>
            <a:r>
              <a:rPr lang="en-US" dirty="0"/>
              <a:t>bash</a:t>
            </a:r>
          </a:p>
          <a:p>
            <a:pPr>
              <a:buNone/>
            </a:pPr>
            <a:r>
              <a:rPr lang="en-US" dirty="0" err="1"/>
              <a:t>CopyEdit</a:t>
            </a:r>
            <a:endParaRPr lang="en-US" dirty="0"/>
          </a:p>
          <a:p>
            <a:pPr rtl="0">
              <a:buNone/>
            </a:pPr>
            <a:r>
              <a:rPr lang="en-US" dirty="0" err="1"/>
              <a:t>sudo</a:t>
            </a:r>
            <a:r>
              <a:rPr lang="en-US" dirty="0"/>
              <a:t> </a:t>
            </a:r>
            <a:r>
              <a:rPr lang="en-US" dirty="0" err="1"/>
              <a:t>nmap</a:t>
            </a:r>
            <a:r>
              <a:rPr lang="en-US" dirty="0"/>
              <a:t> -p 22 192.168.2.242 </a:t>
            </a:r>
          </a:p>
          <a:p>
            <a:r>
              <a:rPr lang="en-US" dirty="0"/>
              <a:t>Once confirmed, I moved on to the brute force phase."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C5F793-0C3D-4812-9BDB-19CB4549849A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375509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r>
              <a:rPr lang="en-US" dirty="0"/>
              <a:t>"To perform the actual brute force attack, I used a tool called </a:t>
            </a:r>
            <a:r>
              <a:rPr lang="en-US" b="1" dirty="0"/>
              <a:t>Hydra</a:t>
            </a:r>
            <a:r>
              <a:rPr lang="en-US" dirty="0"/>
              <a:t> — it's powerful and supports many protocols.</a:t>
            </a:r>
          </a:p>
          <a:p>
            <a:pPr>
              <a:buNone/>
            </a:pPr>
            <a:r>
              <a:rPr lang="en-US" dirty="0"/>
              <a:t>bash</a:t>
            </a:r>
          </a:p>
          <a:p>
            <a:pPr>
              <a:buNone/>
            </a:pPr>
            <a:r>
              <a:rPr lang="en-US" dirty="0" err="1"/>
              <a:t>CopyEdit</a:t>
            </a:r>
            <a:endParaRPr lang="en-US" dirty="0"/>
          </a:p>
          <a:p>
            <a:pPr rtl="0">
              <a:buNone/>
            </a:pPr>
            <a:r>
              <a:rPr lang="en-US" dirty="0"/>
              <a:t>hydra -L users.txt -P rockyou.txt ssh://192.168.2.242 -V </a:t>
            </a:r>
          </a:p>
          <a:p>
            <a:pPr>
              <a:buNone/>
            </a:pPr>
            <a:r>
              <a:rPr lang="en-US" dirty="0"/>
              <a:t>This command used a list of usernames and the famous </a:t>
            </a:r>
            <a:r>
              <a:rPr lang="en-US" b="1" dirty="0"/>
              <a:t>rockyou.txt</a:t>
            </a:r>
            <a:r>
              <a:rPr lang="en-US" dirty="0"/>
              <a:t> password list to try different combinations rapidly.</a:t>
            </a:r>
          </a:p>
          <a:p>
            <a:r>
              <a:rPr lang="en-US" dirty="0"/>
              <a:t>Eventually, it found valid credentials: administrator : password. Yes — just ‘password’. This shows how risky weak passwords are — it took </a:t>
            </a:r>
            <a:r>
              <a:rPr lang="en-US" b="1" dirty="0"/>
              <a:t>less than a minute</a:t>
            </a:r>
            <a:r>
              <a:rPr lang="en-US" dirty="0"/>
              <a:t> to break in using commonly available tools."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C5F793-0C3D-4812-9BDB-19CB4549849A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577937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r>
              <a:rPr lang="en-US" b="1" dirty="0"/>
              <a:t>Script:</a:t>
            </a:r>
            <a:r>
              <a:rPr lang="en-US" dirty="0"/>
              <a:t> "To protect against this kind of attack: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Always use complex, unique passwords</a:t>
            </a:r>
            <a:r>
              <a:rPr lang="en-US" dirty="0"/>
              <a:t> that aren’t found in public wordlists.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Enable </a:t>
            </a:r>
            <a:r>
              <a:rPr lang="en-US" b="1" dirty="0"/>
              <a:t>account lockout</a:t>
            </a:r>
            <a:r>
              <a:rPr lang="en-US" dirty="0"/>
              <a:t> after a few failed attempts to prevent continuous brute force attempts.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Turn on </a:t>
            </a:r>
            <a:r>
              <a:rPr lang="en-US" b="1" dirty="0"/>
              <a:t>Multi-Factor Authentication (MFA)</a:t>
            </a:r>
            <a:r>
              <a:rPr lang="en-US" dirty="0"/>
              <a:t> where possible.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And for added security, switch from password-based login to </a:t>
            </a:r>
            <a:r>
              <a:rPr lang="en-US" b="1" dirty="0"/>
              <a:t>SSH key-based authentication</a:t>
            </a:r>
            <a:r>
              <a:rPr lang="en-US" dirty="0"/>
              <a:t>, which is much harder to brute force."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C5F793-0C3D-4812-9BDB-19CB4549849A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881973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r>
              <a:rPr lang="en-US" b="1" dirty="0"/>
              <a:t>Script:</a:t>
            </a:r>
            <a:r>
              <a:rPr lang="en-US" dirty="0"/>
              <a:t> "In summary, both UDP Port Scanning and SSH Brute Force Attacks highlight different types of weaknesses — one at the </a:t>
            </a:r>
            <a:r>
              <a:rPr lang="en-US" b="1" dirty="0"/>
              <a:t>network service</a:t>
            </a:r>
            <a:r>
              <a:rPr lang="en-US" dirty="0"/>
              <a:t> level, and the other at the </a:t>
            </a:r>
            <a:r>
              <a:rPr lang="en-US" b="1" dirty="0"/>
              <a:t>authentication</a:t>
            </a:r>
            <a:r>
              <a:rPr lang="en-US" dirty="0"/>
              <a:t> level.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UDP scans may fly under the radar but can reveal </a:t>
            </a:r>
            <a:r>
              <a:rPr lang="en-US" b="1" dirty="0"/>
              <a:t>critical open ports</a:t>
            </a:r>
            <a:r>
              <a:rPr lang="en-US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SSH brute force attacks are loud and obvious, but they still succeed if systems use </a:t>
            </a:r>
            <a:r>
              <a:rPr lang="en-US" b="1" dirty="0"/>
              <a:t>weak credentials</a:t>
            </a:r>
            <a:r>
              <a:rPr lang="en-US" dirty="0"/>
              <a:t>.</a:t>
            </a:r>
          </a:p>
          <a:p>
            <a:pPr>
              <a:buNone/>
            </a:pPr>
            <a:r>
              <a:rPr lang="en-US" dirty="0"/>
              <a:t>Ultimately, </a:t>
            </a:r>
            <a:r>
              <a:rPr lang="en-US" b="1" dirty="0"/>
              <a:t>prevention is better than detection</a:t>
            </a:r>
            <a:r>
              <a:rPr lang="en-US" dirty="0"/>
              <a:t>. That means hardening your systems, monitoring your network, and following best practices like MFA and least-privilege access.</a:t>
            </a:r>
          </a:p>
          <a:p>
            <a:r>
              <a:rPr lang="en-US" dirty="0"/>
              <a:t>Thank you all for listening, and stay safe out there in the cyber world!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C5F793-0C3D-4812-9BDB-19CB4549849A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680678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8466" y="-8468"/>
            <a:ext cx="9169804" cy="6874935"/>
            <a:chOff x="-8466" y="-8468"/>
            <a:chExt cx="9169804" cy="6874935"/>
          </a:xfrm>
        </p:grpSpPr>
        <p:cxnSp>
          <p:nvCxnSpPr>
            <p:cNvPr id="17" name="Straight Connector 16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Freeform 18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0" name="Freeform 19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1" name="Freeform 20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2" name="Freeform 21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3" name="Freeform 22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4" name="Freeform 23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5" name="Freeform 24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8" name="Freeform 27"/>
            <p:cNvSpPr/>
            <p:nvPr/>
          </p:nvSpPr>
          <p:spPr>
            <a:xfrm>
              <a:off x="-8466" y="-8468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0595" y="2404534"/>
            <a:ext cx="5826719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30595" y="4050834"/>
            <a:ext cx="5826719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51419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95854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2700868"/>
            <a:ext cx="6347715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07840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2160589"/>
            <a:ext cx="3088109" cy="3880772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9204" y="2160590"/>
            <a:ext cx="3088110" cy="388077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34177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99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66640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66640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30885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4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97454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84204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1498604"/>
            <a:ext cx="2790182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1275" y="514925"/>
            <a:ext cx="3386037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2777069"/>
            <a:ext cx="2790182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62121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4800600"/>
            <a:ext cx="6347714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" y="609600"/>
            <a:ext cx="6347714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5367338"/>
            <a:ext cx="6347714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30224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4470400"/>
            <a:ext cx="6347714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06237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01074" y="3632200"/>
            <a:ext cx="541980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470400"/>
            <a:ext cx="6347715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78562857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1931988"/>
            <a:ext cx="6347715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261569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69312280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5848" y="609600"/>
            <a:ext cx="6341465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183998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049644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977312" y="609600"/>
            <a:ext cx="978812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99" y="609600"/>
            <a:ext cx="5195026" cy="525145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99921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-8467" y="-8468"/>
            <a:ext cx="9169805" cy="6874935"/>
            <a:chOff x="-8467" y="-8468"/>
            <a:chExt cx="9169805" cy="6874935"/>
          </a:xfrm>
        </p:grpSpPr>
        <p:sp>
          <p:nvSpPr>
            <p:cNvPr id="7" name="Freeform 6"/>
            <p:cNvSpPr/>
            <p:nvPr/>
          </p:nvSpPr>
          <p:spPr>
            <a:xfrm>
              <a:off x="-8467" y="4013200"/>
              <a:ext cx="457200" cy="2853267"/>
            </a:xfrm>
            <a:custGeom>
              <a:avLst/>
              <a:gdLst/>
              <a:ahLst/>
              <a:cxnLst/>
              <a:rect l="l" t="t" r="r" b="b"/>
              <a:pathLst>
                <a:path w="457200" h="2853267">
                  <a:moveTo>
                    <a:pt x="0" y="0"/>
                  </a:moveTo>
                  <a:lnTo>
                    <a:pt x="457200" y="2853267"/>
                  </a:lnTo>
                  <a:lnTo>
                    <a:pt x="0" y="2844800"/>
                  </a:lnTo>
                  <a:cubicBezTo>
                    <a:pt x="2822" y="1905000"/>
                    <a:pt x="5645" y="965200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cxnSp>
          <p:nvCxnSpPr>
            <p:cNvPr id="8" name="Straight Connector 7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Freeform 9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1" name="Freeform 10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2" name="Freeform 11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3" name="Freeform 12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4" name="Freeform 13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5" name="Freeform 14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6" name="Freeform 15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590"/>
            <a:ext cx="6347714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05258" y="6041363"/>
            <a:ext cx="68413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89444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5.xml"/><Relationship Id="rId5" Type="http://schemas.openxmlformats.org/officeDocument/2006/relationships/diagramQuickStyle" Target="../diagrams/quickStyle5.xml"/><Relationship Id="rId4" Type="http://schemas.openxmlformats.org/officeDocument/2006/relationships/diagramLayout" Target="../diagrams/layout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6.xml"/><Relationship Id="rId7" Type="http://schemas.microsoft.com/office/2007/relationships/diagramDrawing" Target="../diagrams/drawing6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6.xml"/><Relationship Id="rId5" Type="http://schemas.openxmlformats.org/officeDocument/2006/relationships/diagramQuickStyle" Target="../diagrams/quickStyle6.xml"/><Relationship Id="rId4" Type="http://schemas.openxmlformats.org/officeDocument/2006/relationships/diagramLayout" Target="../diagrams/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7.xml"/><Relationship Id="rId7" Type="http://schemas.microsoft.com/office/2007/relationships/diagramDrawing" Target="../diagrams/drawing7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7.xml"/><Relationship Id="rId5" Type="http://schemas.openxmlformats.org/officeDocument/2006/relationships/diagramQuickStyle" Target="../diagrams/quickStyle7.xml"/><Relationship Id="rId4" Type="http://schemas.openxmlformats.org/officeDocument/2006/relationships/diagramLayout" Target="../diagrams/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ADFFC45-3DC9-4433-926F-043E879D9D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B5F26A87-0610-435F-AA13-BD658385C9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200422" y="-8468"/>
            <a:ext cx="3572669" cy="6866467"/>
            <a:chOff x="67175" y="-8467"/>
            <a:chExt cx="4763558" cy="6866467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E6321436-5AAD-4FB6-BB0D-316D4540E8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448300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94B0BD33-3D46-4F43-947A-825DFEF610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67175" y="3681413"/>
              <a:ext cx="4763558" cy="3176587"/>
            </a:xfrm>
            <a:prstGeom prst="line">
              <a:avLst/>
            </a:prstGeom>
            <a:ln w="9525">
              <a:solidFill>
                <a:schemeClr val="tx1">
                  <a:lumMod val="50000"/>
                  <a:lumOff val="50000"/>
                  <a:alpha val="8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Rectangle 23">
              <a:extLst>
                <a:ext uri="{FF2B5EF4-FFF2-40B4-BE49-F238E27FC236}">
                  <a16:creationId xmlns:a16="http://schemas.microsoft.com/office/drawing/2014/main" id="{92E26C27-E1F5-47DC-9F83-469D196C55D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258764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CA"/>
            </a:p>
          </p:txBody>
        </p:sp>
        <p:sp>
          <p:nvSpPr>
            <p:cNvPr id="14" name="Rectangle 25">
              <a:extLst>
                <a:ext uri="{FF2B5EF4-FFF2-40B4-BE49-F238E27FC236}">
                  <a16:creationId xmlns:a16="http://schemas.microsoft.com/office/drawing/2014/main" id="{95F944E7-2B4E-4AE2-B4DB-846FF8AE0B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80730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CA"/>
            </a:p>
          </p:txBody>
        </p:sp>
        <p:sp>
          <p:nvSpPr>
            <p:cNvPr id="15" name="Isosceles Triangle 14">
              <a:extLst>
                <a:ext uri="{FF2B5EF4-FFF2-40B4-BE49-F238E27FC236}">
                  <a16:creationId xmlns:a16="http://schemas.microsoft.com/office/drawing/2014/main" id="{FF14952D-390F-46CC-B302-73DDD9C4160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09621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CA"/>
            </a:p>
          </p:txBody>
        </p:sp>
        <p:sp>
          <p:nvSpPr>
            <p:cNvPr id="16" name="Rectangle 27">
              <a:extLst>
                <a:ext uri="{FF2B5EF4-FFF2-40B4-BE49-F238E27FC236}">
                  <a16:creationId xmlns:a16="http://schemas.microsoft.com/office/drawing/2014/main" id="{867CDE55-B22A-40D0-882A-9452919EEC2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411788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CA"/>
            </a:p>
          </p:txBody>
        </p:sp>
        <p:sp>
          <p:nvSpPr>
            <p:cNvPr id="17" name="Isosceles Triangle 16">
              <a:extLst>
                <a:ext uri="{FF2B5EF4-FFF2-40B4-BE49-F238E27FC236}">
                  <a16:creationId xmlns:a16="http://schemas.microsoft.com/office/drawing/2014/main" id="{8C409231-C942-4808-B529-DAC32A7DB0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448954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CA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08001" y="1282701"/>
            <a:ext cx="3822045" cy="4307148"/>
          </a:xfrm>
        </p:spPr>
        <p:txBody>
          <a:bodyPr anchor="ctr">
            <a:normAutofit/>
          </a:bodyPr>
          <a:lstStyle/>
          <a:p>
            <a:r>
              <a:rPr dirty="0"/>
              <a:t>Network Security Project</a:t>
            </a:r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69370F01-B8C9-4CE4-824C-92B2792E6E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352372" y="-8468"/>
            <a:ext cx="3806198" cy="6866468"/>
          </a:xfrm>
          <a:custGeom>
            <a:avLst/>
            <a:gdLst>
              <a:gd name="connsiteX0" fmla="*/ 0 w 5074930"/>
              <a:gd name="connsiteY0" fmla="*/ 0 h 6858000"/>
              <a:gd name="connsiteX1" fmla="*/ 1249825 w 5074930"/>
              <a:gd name="connsiteY1" fmla="*/ 0 h 6858000"/>
              <a:gd name="connsiteX2" fmla="*/ 1249825 w 5074930"/>
              <a:gd name="connsiteY2" fmla="*/ 8457 h 6858000"/>
              <a:gd name="connsiteX3" fmla="*/ 5074930 w 5074930"/>
              <a:gd name="connsiteY3" fmla="*/ 8457 h 6858000"/>
              <a:gd name="connsiteX4" fmla="*/ 5074930 w 5074930"/>
              <a:gd name="connsiteY4" fmla="*/ 6858000 h 6858000"/>
              <a:gd name="connsiteX5" fmla="*/ 1249825 w 5074930"/>
              <a:gd name="connsiteY5" fmla="*/ 6858000 h 6858000"/>
              <a:gd name="connsiteX6" fmla="*/ 1109383 w 5074930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074930" h="6858000">
                <a:moveTo>
                  <a:pt x="0" y="0"/>
                </a:moveTo>
                <a:lnTo>
                  <a:pt x="1249825" y="0"/>
                </a:lnTo>
                <a:lnTo>
                  <a:pt x="1249825" y="8457"/>
                </a:lnTo>
                <a:lnTo>
                  <a:pt x="5074930" y="8457"/>
                </a:lnTo>
                <a:lnTo>
                  <a:pt x="5074930" y="6858000"/>
                </a:lnTo>
                <a:lnTo>
                  <a:pt x="1249825" y="6858000"/>
                </a:lnTo>
                <a:lnTo>
                  <a:pt x="1109383" y="68580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65840" y="2510119"/>
            <a:ext cx="2701925" cy="1829292"/>
          </a:xfrm>
        </p:spPr>
        <p:txBody>
          <a:bodyPr anchor="ctr">
            <a:normAutofit/>
          </a:bodyPr>
          <a:lstStyle/>
          <a:p>
            <a:pPr algn="l"/>
            <a:r>
              <a:rPr lang="en-CA" dirty="0">
                <a:solidFill>
                  <a:srgbClr val="FFFFFF"/>
                </a:solidFill>
              </a:rPr>
              <a:t>UDP Port Scan &amp; SSH Brute Force Attack</a:t>
            </a:r>
          </a:p>
          <a:p>
            <a:pPr algn="l"/>
            <a:r>
              <a:rPr lang="en-CA" dirty="0">
                <a:solidFill>
                  <a:srgbClr val="FFFFFF"/>
                </a:solidFill>
              </a:rPr>
              <a:t>By Vedant Patel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1632"/>
    </mc:Choice>
    <mc:Fallback xmlns="">
      <p:transition spd="slow" advTm="31632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655AE6B0-AC9E-4167-806F-E9DB135FC4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9360" y="1382486"/>
            <a:ext cx="2660686" cy="4093028"/>
          </a:xfrm>
        </p:spPr>
        <p:txBody>
          <a:bodyPr anchor="ctr">
            <a:normAutofit/>
          </a:bodyPr>
          <a:lstStyle/>
          <a:p>
            <a:r>
              <a:rPr lang="en-CA" sz="3800"/>
              <a:t>UDP Port Scan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3523416A-383B-4FDC-B4C9-D8EDDFE9C0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96950" y="-8467"/>
            <a:ext cx="3575050" cy="6866467"/>
            <a:chOff x="7425267" y="-8467"/>
            <a:chExt cx="4766733" cy="6866467"/>
          </a:xfrm>
        </p:grpSpPr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CB0D29D5-3F7C-4197-821B-6D60A66CC0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rgbClr val="BFBFBF">
                  <a:alpha val="7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347FB49A-3541-428A-AADE-682A3C5056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rgbClr val="BFBFBF">
                  <a:alpha val="8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Rectangle 23">
              <a:extLst>
                <a:ext uri="{FF2B5EF4-FFF2-40B4-BE49-F238E27FC236}">
                  <a16:creationId xmlns:a16="http://schemas.microsoft.com/office/drawing/2014/main" id="{D96F53DC-08F1-42C6-B558-B83D54B276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CA"/>
            </a:p>
          </p:txBody>
        </p:sp>
        <p:sp>
          <p:nvSpPr>
            <p:cNvPr id="15" name="Rectangle 25">
              <a:extLst>
                <a:ext uri="{FF2B5EF4-FFF2-40B4-BE49-F238E27FC236}">
                  <a16:creationId xmlns:a16="http://schemas.microsoft.com/office/drawing/2014/main" id="{AFE48CAF-A51C-463F-A570-ED99439A5C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CA"/>
            </a:p>
          </p:txBody>
        </p:sp>
        <p:sp>
          <p:nvSpPr>
            <p:cNvPr id="16" name="Isosceles Triangle 15">
              <a:extLst>
                <a:ext uri="{FF2B5EF4-FFF2-40B4-BE49-F238E27FC236}">
                  <a16:creationId xmlns:a16="http://schemas.microsoft.com/office/drawing/2014/main" id="{01F0C48B-50FF-4351-8207-16D0960483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CA"/>
            </a:p>
          </p:txBody>
        </p:sp>
        <p:sp>
          <p:nvSpPr>
            <p:cNvPr id="17" name="Rectangle 27">
              <a:extLst>
                <a:ext uri="{FF2B5EF4-FFF2-40B4-BE49-F238E27FC236}">
                  <a16:creationId xmlns:a16="http://schemas.microsoft.com/office/drawing/2014/main" id="{300384B6-5ED6-4F91-A548-B706D83751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CA"/>
            </a:p>
          </p:txBody>
        </p:sp>
        <p:sp>
          <p:nvSpPr>
            <p:cNvPr id="18" name="Rectangle 28">
              <a:extLst>
                <a:ext uri="{FF2B5EF4-FFF2-40B4-BE49-F238E27FC236}">
                  <a16:creationId xmlns:a16="http://schemas.microsoft.com/office/drawing/2014/main" id="{337AFFAE-C182-463C-9459-8AB3C69D9A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CA"/>
            </a:p>
          </p:txBody>
        </p:sp>
        <p:sp>
          <p:nvSpPr>
            <p:cNvPr id="19" name="Rectangle 29">
              <a:extLst>
                <a:ext uri="{FF2B5EF4-FFF2-40B4-BE49-F238E27FC236}">
                  <a16:creationId xmlns:a16="http://schemas.microsoft.com/office/drawing/2014/main" id="{510ACF17-C3F0-42BF-BDEB-D079277121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CA"/>
            </a:p>
          </p:txBody>
        </p:sp>
        <p:sp>
          <p:nvSpPr>
            <p:cNvPr id="20" name="Isosceles Triangle 19">
              <a:extLst>
                <a:ext uri="{FF2B5EF4-FFF2-40B4-BE49-F238E27FC236}">
                  <a16:creationId xmlns:a16="http://schemas.microsoft.com/office/drawing/2014/main" id="{E804EFD0-B84E-476F-9FC6-6C4A42EA00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CA"/>
            </a:p>
          </p:txBody>
        </p:sp>
      </p:grpSp>
      <p:sp>
        <p:nvSpPr>
          <p:cNvPr id="22" name="Rectangle 21">
            <a:extLst>
              <a:ext uri="{FF2B5EF4-FFF2-40B4-BE49-F238E27FC236}">
                <a16:creationId xmlns:a16="http://schemas.microsoft.com/office/drawing/2014/main" id="{87BD1F4E-A66D-4C06-86DA-8D56CA7A3B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83289" y="0"/>
            <a:ext cx="466071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D19387FF-6417-A678-1CDC-7B92A703127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95084663"/>
              </p:ext>
            </p:extLst>
          </p:nvPr>
        </p:nvGraphicFramePr>
        <p:xfrm>
          <a:off x="3687414" y="944563"/>
          <a:ext cx="4971603" cy="497958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0476"/>
    </mc:Choice>
    <mc:Fallback xmlns="">
      <p:transition spd="slow" advTm="50476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2AEAFB-0557-9B2D-93A5-952AE4CA01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Command Output</a:t>
            </a:r>
          </a:p>
        </p:txBody>
      </p:sp>
      <p:pic>
        <p:nvPicPr>
          <p:cNvPr id="4" name="Content Placeholder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B677A0DE-D8D6-1C25-0155-72505251C6E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609600" y="2316539"/>
            <a:ext cx="6348413" cy="35695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03098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9760"/>
    </mc:Choice>
    <mc:Fallback xmlns="">
      <p:transition spd="slow" advTm="9760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9F4444CE-BC8D-4D61-B303-4C05614E62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5199" y="609600"/>
            <a:ext cx="7648121" cy="1099457"/>
          </a:xfrm>
        </p:spPr>
        <p:txBody>
          <a:bodyPr>
            <a:normAutofit/>
          </a:bodyPr>
          <a:lstStyle/>
          <a:p>
            <a:r>
              <a:t>Capturing UDP Packets</a:t>
            </a:r>
          </a:p>
        </p:txBody>
      </p:sp>
      <p:sp>
        <p:nvSpPr>
          <p:cNvPr id="16" name="Isosceles Triangle 15">
            <a:extLst>
              <a:ext uri="{FF2B5EF4-FFF2-40B4-BE49-F238E27FC236}">
                <a16:creationId xmlns:a16="http://schemas.microsoft.com/office/drawing/2014/main" id="{73772B81-181F-48B7-8826-4D9686D15D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0"/>
            <a:ext cx="631947" cy="5666154"/>
          </a:xfrm>
          <a:prstGeom prst="triangle">
            <a:avLst>
              <a:gd name="adj" fmla="val 10000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CA"/>
          </a:p>
        </p:txBody>
      </p:sp>
      <p:sp>
        <p:nvSpPr>
          <p:cNvPr id="17" name="Isosceles Triangle 16">
            <a:extLst>
              <a:ext uri="{FF2B5EF4-FFF2-40B4-BE49-F238E27FC236}">
                <a16:creationId xmlns:a16="http://schemas.microsoft.com/office/drawing/2014/main" id="{B2205F6E-03C6-4E92-877C-E2482F6599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807450" y="4013200"/>
            <a:ext cx="336550" cy="2844800"/>
          </a:xfrm>
          <a:prstGeom prst="triangle">
            <a:avLst>
              <a:gd name="adj" fmla="val 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CA"/>
          </a:p>
        </p:txBody>
      </p:sp>
      <p:graphicFrame>
        <p:nvGraphicFramePr>
          <p:cNvPr id="18" name="Content Placeholder 2">
            <a:extLst>
              <a:ext uri="{FF2B5EF4-FFF2-40B4-BE49-F238E27FC236}">
                <a16:creationId xmlns:a16="http://schemas.microsoft.com/office/drawing/2014/main" id="{F4135FC2-04A3-DDDF-C484-FFADAE077E0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86914303"/>
              </p:ext>
            </p:extLst>
          </p:nvPr>
        </p:nvGraphicFramePr>
        <p:xfrm>
          <a:off x="965199" y="1948543"/>
          <a:ext cx="7213600" cy="409348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6406"/>
    </mc:Choice>
    <mc:Fallback xmlns="">
      <p:transition spd="slow" advTm="36406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490A1A-6150-25F2-BA71-52C5EF1959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Wireshark Packets</a:t>
            </a:r>
          </a:p>
        </p:txBody>
      </p:sp>
      <p:pic>
        <p:nvPicPr>
          <p:cNvPr id="4" name="Content Placeholder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2BCB5328-C823-8A0B-0B8C-72783166635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609600" y="2316539"/>
            <a:ext cx="6348413" cy="35695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04534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280"/>
    </mc:Choice>
    <mc:Fallback xmlns="">
      <p:transition spd="slow" advTm="4280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F4444CE-BC8D-4D61-B303-4C05614E62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5199" y="609600"/>
            <a:ext cx="7648121" cy="1099457"/>
          </a:xfrm>
        </p:spPr>
        <p:txBody>
          <a:bodyPr>
            <a:normAutofit/>
          </a:bodyPr>
          <a:lstStyle/>
          <a:p>
            <a:r>
              <a:t>UDP Vulnerabilities</a:t>
            </a:r>
          </a:p>
        </p:txBody>
      </p:sp>
      <p:sp>
        <p:nvSpPr>
          <p:cNvPr id="11" name="Isosceles Triangle 10">
            <a:extLst>
              <a:ext uri="{FF2B5EF4-FFF2-40B4-BE49-F238E27FC236}">
                <a16:creationId xmlns:a16="http://schemas.microsoft.com/office/drawing/2014/main" id="{73772B81-181F-48B7-8826-4D9686D15D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0"/>
            <a:ext cx="631947" cy="5666154"/>
          </a:xfrm>
          <a:prstGeom prst="triangle">
            <a:avLst>
              <a:gd name="adj" fmla="val 10000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CA"/>
          </a:p>
        </p:txBody>
      </p:sp>
      <p:sp>
        <p:nvSpPr>
          <p:cNvPr id="13" name="Isosceles Triangle 12">
            <a:extLst>
              <a:ext uri="{FF2B5EF4-FFF2-40B4-BE49-F238E27FC236}">
                <a16:creationId xmlns:a16="http://schemas.microsoft.com/office/drawing/2014/main" id="{B2205F6E-03C6-4E92-877C-E2482F6599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807450" y="4013200"/>
            <a:ext cx="336550" cy="2844800"/>
          </a:xfrm>
          <a:prstGeom prst="triangle">
            <a:avLst>
              <a:gd name="adj" fmla="val 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CA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691758DB-7183-AB66-E6DE-C6204ECE8EE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14896622"/>
              </p:ext>
            </p:extLst>
          </p:nvPr>
        </p:nvGraphicFramePr>
        <p:xfrm>
          <a:off x="965199" y="1948543"/>
          <a:ext cx="7213600" cy="409348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6934"/>
    </mc:Choice>
    <mc:Fallback xmlns="">
      <p:transition spd="slow" advTm="36934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C406BE-2FDE-659F-539F-538C85BAB2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Vulnerability 1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D0627CA3-F9C4-7EC5-98F8-6EC723BF2EA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0176" y="2253714"/>
            <a:ext cx="5927260" cy="369518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2414528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22"/>
    </mc:Choice>
    <mc:Fallback xmlns="">
      <p:transition spd="slow" advTm="3022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D940A5-B224-6AB7-A81B-BBEEB91E1E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Vulnerability 2</a:t>
            </a:r>
          </a:p>
        </p:txBody>
      </p:sp>
      <p:pic>
        <p:nvPicPr>
          <p:cNvPr id="4" name="Content Placeholder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E653E76C-3A27-F599-BD5C-8DC0013394D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09600" y="2316539"/>
            <a:ext cx="6348413" cy="35695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83256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928"/>
    </mc:Choice>
    <mc:Fallback xmlns="">
      <p:transition spd="slow" advTm="928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603AE127-802C-459A-A612-DB85B67F0D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2962" y="1179151"/>
            <a:ext cx="2475485" cy="4463889"/>
          </a:xfrm>
        </p:spPr>
        <p:txBody>
          <a:bodyPr anchor="ctr">
            <a:normAutofit/>
          </a:bodyPr>
          <a:lstStyle/>
          <a:p>
            <a:r>
              <a:rPr lang="en-CA" sz="3300"/>
              <a:t>UDP Exploitation</a:t>
            </a:r>
          </a:p>
        </p:txBody>
      </p:sp>
      <p:sp>
        <p:nvSpPr>
          <p:cNvPr id="10" name="Isosceles Triangle 9">
            <a:extLst>
              <a:ext uri="{FF2B5EF4-FFF2-40B4-BE49-F238E27FC236}">
                <a16:creationId xmlns:a16="http://schemas.microsoft.com/office/drawing/2014/main" id="{9323D83D-50D6-4040-A58B-FCEA340F88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013200"/>
            <a:ext cx="336549" cy="2844800"/>
          </a:xfrm>
          <a:prstGeom prst="triangle">
            <a:avLst>
              <a:gd name="adj" fmla="val 0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CA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A1FE6BB-DFB2-4080-9B5E-076EF5DDE6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492502" y="1442595"/>
            <a:ext cx="0" cy="3937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34188" y="1109145"/>
            <a:ext cx="4755762" cy="4603900"/>
          </a:xfrm>
        </p:spPr>
        <p:txBody>
          <a:bodyPr anchor="ctr">
            <a:normAutofit/>
          </a:bodyPr>
          <a:lstStyle/>
          <a:p>
            <a:r>
              <a:t>Command: sudo nmap -sU -p 53,161,500 192.168.2.242</a:t>
            </a:r>
          </a:p>
          <a:p>
            <a:r>
              <a:t>Ports: DNS (53), SNMP (161), VPN/IKE (500)</a:t>
            </a:r>
          </a:p>
          <a:p>
            <a:r>
              <a:t>Used nbtscan to reveal NetBIOS info</a:t>
            </a:r>
          </a:p>
        </p:txBody>
      </p:sp>
      <p:sp>
        <p:nvSpPr>
          <p:cNvPr id="14" name="Isosceles Triangle 13">
            <a:extLst>
              <a:ext uri="{FF2B5EF4-FFF2-40B4-BE49-F238E27FC236}">
                <a16:creationId xmlns:a16="http://schemas.microsoft.com/office/drawing/2014/main" id="{F10FD715-4DCE-4779-B634-EC78315EA2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523104" y="0"/>
            <a:ext cx="631947" cy="4616289"/>
          </a:xfrm>
          <a:prstGeom prst="triangle">
            <a:avLst>
              <a:gd name="adj" fmla="val 100000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CA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2130"/>
    </mc:Choice>
    <mc:Fallback xmlns="">
      <p:transition spd="slow" advTm="42130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655AE6B0-AC9E-4167-806F-E9DB135FC4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9360" y="1382486"/>
            <a:ext cx="2660686" cy="4093028"/>
          </a:xfrm>
        </p:spPr>
        <p:txBody>
          <a:bodyPr anchor="ctr">
            <a:normAutofit/>
          </a:bodyPr>
          <a:lstStyle/>
          <a:p>
            <a:r>
              <a:rPr lang="en-CA" sz="3800"/>
              <a:t>UDP Scan Mitigations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3523416A-383B-4FDC-B4C9-D8EDDFE9C0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96950" y="-8467"/>
            <a:ext cx="3575050" cy="6866467"/>
            <a:chOff x="7425267" y="-8467"/>
            <a:chExt cx="4766733" cy="6866467"/>
          </a:xfrm>
        </p:grpSpPr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CB0D29D5-3F7C-4197-821B-6D60A66CC0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rgbClr val="BFBFBF">
                  <a:alpha val="7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347FB49A-3541-428A-AADE-682A3C5056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rgbClr val="BFBFBF">
                  <a:alpha val="8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Rectangle 23">
              <a:extLst>
                <a:ext uri="{FF2B5EF4-FFF2-40B4-BE49-F238E27FC236}">
                  <a16:creationId xmlns:a16="http://schemas.microsoft.com/office/drawing/2014/main" id="{D96F53DC-08F1-42C6-B558-B83D54B276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CA"/>
            </a:p>
          </p:txBody>
        </p:sp>
        <p:sp>
          <p:nvSpPr>
            <p:cNvPr id="15" name="Rectangle 25">
              <a:extLst>
                <a:ext uri="{FF2B5EF4-FFF2-40B4-BE49-F238E27FC236}">
                  <a16:creationId xmlns:a16="http://schemas.microsoft.com/office/drawing/2014/main" id="{AFE48CAF-A51C-463F-A570-ED99439A5C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CA"/>
            </a:p>
          </p:txBody>
        </p:sp>
        <p:sp>
          <p:nvSpPr>
            <p:cNvPr id="16" name="Isosceles Triangle 15">
              <a:extLst>
                <a:ext uri="{FF2B5EF4-FFF2-40B4-BE49-F238E27FC236}">
                  <a16:creationId xmlns:a16="http://schemas.microsoft.com/office/drawing/2014/main" id="{01F0C48B-50FF-4351-8207-16D0960483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CA"/>
            </a:p>
          </p:txBody>
        </p:sp>
        <p:sp>
          <p:nvSpPr>
            <p:cNvPr id="17" name="Rectangle 27">
              <a:extLst>
                <a:ext uri="{FF2B5EF4-FFF2-40B4-BE49-F238E27FC236}">
                  <a16:creationId xmlns:a16="http://schemas.microsoft.com/office/drawing/2014/main" id="{300384B6-5ED6-4F91-A548-B706D83751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CA"/>
            </a:p>
          </p:txBody>
        </p:sp>
        <p:sp>
          <p:nvSpPr>
            <p:cNvPr id="18" name="Rectangle 28">
              <a:extLst>
                <a:ext uri="{FF2B5EF4-FFF2-40B4-BE49-F238E27FC236}">
                  <a16:creationId xmlns:a16="http://schemas.microsoft.com/office/drawing/2014/main" id="{337AFFAE-C182-463C-9459-8AB3C69D9A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CA"/>
            </a:p>
          </p:txBody>
        </p:sp>
        <p:sp>
          <p:nvSpPr>
            <p:cNvPr id="19" name="Rectangle 29">
              <a:extLst>
                <a:ext uri="{FF2B5EF4-FFF2-40B4-BE49-F238E27FC236}">
                  <a16:creationId xmlns:a16="http://schemas.microsoft.com/office/drawing/2014/main" id="{510ACF17-C3F0-42BF-BDEB-D079277121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CA"/>
            </a:p>
          </p:txBody>
        </p:sp>
        <p:sp>
          <p:nvSpPr>
            <p:cNvPr id="20" name="Isosceles Triangle 19">
              <a:extLst>
                <a:ext uri="{FF2B5EF4-FFF2-40B4-BE49-F238E27FC236}">
                  <a16:creationId xmlns:a16="http://schemas.microsoft.com/office/drawing/2014/main" id="{E804EFD0-B84E-476F-9FC6-6C4A42EA00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CA"/>
            </a:p>
          </p:txBody>
        </p:sp>
      </p:grpSp>
      <p:sp>
        <p:nvSpPr>
          <p:cNvPr id="22" name="Rectangle 21">
            <a:extLst>
              <a:ext uri="{FF2B5EF4-FFF2-40B4-BE49-F238E27FC236}">
                <a16:creationId xmlns:a16="http://schemas.microsoft.com/office/drawing/2014/main" id="{87BD1F4E-A66D-4C06-86DA-8D56CA7A3B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83289" y="0"/>
            <a:ext cx="466071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2AFF8741-0D4F-7B37-141A-17AAC1CF8C4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57373746"/>
              </p:ext>
            </p:extLst>
          </p:nvPr>
        </p:nvGraphicFramePr>
        <p:xfrm>
          <a:off x="3687414" y="944563"/>
          <a:ext cx="4971603" cy="497958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9632"/>
    </mc:Choice>
    <mc:Fallback xmlns="">
      <p:transition spd="slow" advTm="39632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655AE6B0-AC9E-4167-806F-E9DB135FC4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9360" y="1382486"/>
            <a:ext cx="2660686" cy="4093028"/>
          </a:xfrm>
        </p:spPr>
        <p:txBody>
          <a:bodyPr anchor="ctr">
            <a:normAutofit/>
          </a:bodyPr>
          <a:lstStyle/>
          <a:p>
            <a:r>
              <a:rPr lang="en-CA" sz="3800"/>
              <a:t>SSH Brute Force Attack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3523416A-383B-4FDC-B4C9-D8EDDFE9C0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96950" y="-8467"/>
            <a:ext cx="3575050" cy="6866467"/>
            <a:chOff x="7425267" y="-8467"/>
            <a:chExt cx="4766733" cy="6866467"/>
          </a:xfrm>
        </p:grpSpPr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CB0D29D5-3F7C-4197-821B-6D60A66CC0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rgbClr val="BFBFBF">
                  <a:alpha val="7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347FB49A-3541-428A-AADE-682A3C5056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rgbClr val="BFBFBF">
                  <a:alpha val="8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Rectangle 23">
              <a:extLst>
                <a:ext uri="{FF2B5EF4-FFF2-40B4-BE49-F238E27FC236}">
                  <a16:creationId xmlns:a16="http://schemas.microsoft.com/office/drawing/2014/main" id="{D96F53DC-08F1-42C6-B558-B83D54B276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CA"/>
            </a:p>
          </p:txBody>
        </p:sp>
        <p:sp>
          <p:nvSpPr>
            <p:cNvPr id="15" name="Rectangle 25">
              <a:extLst>
                <a:ext uri="{FF2B5EF4-FFF2-40B4-BE49-F238E27FC236}">
                  <a16:creationId xmlns:a16="http://schemas.microsoft.com/office/drawing/2014/main" id="{AFE48CAF-A51C-463F-A570-ED99439A5C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CA"/>
            </a:p>
          </p:txBody>
        </p:sp>
        <p:sp>
          <p:nvSpPr>
            <p:cNvPr id="16" name="Isosceles Triangle 15">
              <a:extLst>
                <a:ext uri="{FF2B5EF4-FFF2-40B4-BE49-F238E27FC236}">
                  <a16:creationId xmlns:a16="http://schemas.microsoft.com/office/drawing/2014/main" id="{01F0C48B-50FF-4351-8207-16D0960483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CA"/>
            </a:p>
          </p:txBody>
        </p:sp>
        <p:sp>
          <p:nvSpPr>
            <p:cNvPr id="17" name="Rectangle 27">
              <a:extLst>
                <a:ext uri="{FF2B5EF4-FFF2-40B4-BE49-F238E27FC236}">
                  <a16:creationId xmlns:a16="http://schemas.microsoft.com/office/drawing/2014/main" id="{300384B6-5ED6-4F91-A548-B706D83751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CA"/>
            </a:p>
          </p:txBody>
        </p:sp>
        <p:sp>
          <p:nvSpPr>
            <p:cNvPr id="18" name="Rectangle 28">
              <a:extLst>
                <a:ext uri="{FF2B5EF4-FFF2-40B4-BE49-F238E27FC236}">
                  <a16:creationId xmlns:a16="http://schemas.microsoft.com/office/drawing/2014/main" id="{337AFFAE-C182-463C-9459-8AB3C69D9A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CA"/>
            </a:p>
          </p:txBody>
        </p:sp>
        <p:sp>
          <p:nvSpPr>
            <p:cNvPr id="19" name="Rectangle 29">
              <a:extLst>
                <a:ext uri="{FF2B5EF4-FFF2-40B4-BE49-F238E27FC236}">
                  <a16:creationId xmlns:a16="http://schemas.microsoft.com/office/drawing/2014/main" id="{510ACF17-C3F0-42BF-BDEB-D079277121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CA"/>
            </a:p>
          </p:txBody>
        </p:sp>
        <p:sp>
          <p:nvSpPr>
            <p:cNvPr id="20" name="Isosceles Triangle 19">
              <a:extLst>
                <a:ext uri="{FF2B5EF4-FFF2-40B4-BE49-F238E27FC236}">
                  <a16:creationId xmlns:a16="http://schemas.microsoft.com/office/drawing/2014/main" id="{E804EFD0-B84E-476F-9FC6-6C4A42EA00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CA"/>
            </a:p>
          </p:txBody>
        </p:sp>
      </p:grpSp>
      <p:sp>
        <p:nvSpPr>
          <p:cNvPr id="22" name="Rectangle 21">
            <a:extLst>
              <a:ext uri="{FF2B5EF4-FFF2-40B4-BE49-F238E27FC236}">
                <a16:creationId xmlns:a16="http://schemas.microsoft.com/office/drawing/2014/main" id="{87BD1F4E-A66D-4C06-86DA-8D56CA7A3B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83289" y="0"/>
            <a:ext cx="466071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C33702D2-E6DA-2C0C-23EA-AAAFD158E34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69058033"/>
              </p:ext>
            </p:extLst>
          </p:nvPr>
        </p:nvGraphicFramePr>
        <p:xfrm>
          <a:off x="3687414" y="944563"/>
          <a:ext cx="4971603" cy="497958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618"/>
    </mc:Choice>
    <mc:Fallback xmlns="">
      <p:transition spd="slow" advTm="30618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655AE6B0-AC9E-4167-806F-E9DB135FC4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9360" y="1382486"/>
            <a:ext cx="2660686" cy="4093028"/>
          </a:xfrm>
        </p:spPr>
        <p:txBody>
          <a:bodyPr anchor="ctr">
            <a:normAutofit/>
          </a:bodyPr>
          <a:lstStyle/>
          <a:p>
            <a:r>
              <a:rPr lang="en-CA" sz="3800"/>
              <a:t>Hydra Password Cracking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3523416A-383B-4FDC-B4C9-D8EDDFE9C0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96950" y="-8467"/>
            <a:ext cx="3575050" cy="6866467"/>
            <a:chOff x="7425267" y="-8467"/>
            <a:chExt cx="4766733" cy="6866467"/>
          </a:xfrm>
        </p:grpSpPr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CB0D29D5-3F7C-4197-821B-6D60A66CC0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rgbClr val="BFBFBF">
                  <a:alpha val="7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347FB49A-3541-428A-AADE-682A3C5056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rgbClr val="BFBFBF">
                  <a:alpha val="8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Rectangle 23">
              <a:extLst>
                <a:ext uri="{FF2B5EF4-FFF2-40B4-BE49-F238E27FC236}">
                  <a16:creationId xmlns:a16="http://schemas.microsoft.com/office/drawing/2014/main" id="{D96F53DC-08F1-42C6-B558-B83D54B276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CA"/>
            </a:p>
          </p:txBody>
        </p:sp>
        <p:sp>
          <p:nvSpPr>
            <p:cNvPr id="15" name="Rectangle 25">
              <a:extLst>
                <a:ext uri="{FF2B5EF4-FFF2-40B4-BE49-F238E27FC236}">
                  <a16:creationId xmlns:a16="http://schemas.microsoft.com/office/drawing/2014/main" id="{AFE48CAF-A51C-463F-A570-ED99439A5C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CA"/>
            </a:p>
          </p:txBody>
        </p:sp>
        <p:sp>
          <p:nvSpPr>
            <p:cNvPr id="16" name="Isosceles Triangle 15">
              <a:extLst>
                <a:ext uri="{FF2B5EF4-FFF2-40B4-BE49-F238E27FC236}">
                  <a16:creationId xmlns:a16="http://schemas.microsoft.com/office/drawing/2014/main" id="{01F0C48B-50FF-4351-8207-16D0960483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CA"/>
            </a:p>
          </p:txBody>
        </p:sp>
        <p:sp>
          <p:nvSpPr>
            <p:cNvPr id="17" name="Rectangle 27">
              <a:extLst>
                <a:ext uri="{FF2B5EF4-FFF2-40B4-BE49-F238E27FC236}">
                  <a16:creationId xmlns:a16="http://schemas.microsoft.com/office/drawing/2014/main" id="{300384B6-5ED6-4F91-A548-B706D83751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CA"/>
            </a:p>
          </p:txBody>
        </p:sp>
        <p:sp>
          <p:nvSpPr>
            <p:cNvPr id="18" name="Rectangle 28">
              <a:extLst>
                <a:ext uri="{FF2B5EF4-FFF2-40B4-BE49-F238E27FC236}">
                  <a16:creationId xmlns:a16="http://schemas.microsoft.com/office/drawing/2014/main" id="{337AFFAE-C182-463C-9459-8AB3C69D9A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CA"/>
            </a:p>
          </p:txBody>
        </p:sp>
        <p:sp>
          <p:nvSpPr>
            <p:cNvPr id="19" name="Rectangle 29">
              <a:extLst>
                <a:ext uri="{FF2B5EF4-FFF2-40B4-BE49-F238E27FC236}">
                  <a16:creationId xmlns:a16="http://schemas.microsoft.com/office/drawing/2014/main" id="{510ACF17-C3F0-42BF-BDEB-D079277121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CA"/>
            </a:p>
          </p:txBody>
        </p:sp>
        <p:sp>
          <p:nvSpPr>
            <p:cNvPr id="20" name="Isosceles Triangle 19">
              <a:extLst>
                <a:ext uri="{FF2B5EF4-FFF2-40B4-BE49-F238E27FC236}">
                  <a16:creationId xmlns:a16="http://schemas.microsoft.com/office/drawing/2014/main" id="{E804EFD0-B84E-476F-9FC6-6C4A42EA00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CA"/>
            </a:p>
          </p:txBody>
        </p:sp>
      </p:grpSp>
      <p:sp>
        <p:nvSpPr>
          <p:cNvPr id="22" name="Rectangle 21">
            <a:extLst>
              <a:ext uri="{FF2B5EF4-FFF2-40B4-BE49-F238E27FC236}">
                <a16:creationId xmlns:a16="http://schemas.microsoft.com/office/drawing/2014/main" id="{87BD1F4E-A66D-4C06-86DA-8D56CA7A3B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83289" y="0"/>
            <a:ext cx="466071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54A2D862-8EBD-A9C8-21B8-A75093CE5F3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93483385"/>
              </p:ext>
            </p:extLst>
          </p:nvPr>
        </p:nvGraphicFramePr>
        <p:xfrm>
          <a:off x="3687414" y="944563"/>
          <a:ext cx="4971603" cy="497958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7199"/>
    </mc:Choice>
    <mc:Fallback xmlns="">
      <p:transition spd="slow" advTm="37199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B4E5FC-C17F-8CE1-E706-FAC31F1402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Password found </a:t>
            </a:r>
          </a:p>
        </p:txBody>
      </p:sp>
      <p:pic>
        <p:nvPicPr>
          <p:cNvPr id="4" name="Content Placeholder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4A9EB400-5D50-5A88-1357-754AD7608EB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09600" y="2316539"/>
            <a:ext cx="6348413" cy="35695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41784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440"/>
    </mc:Choice>
    <mc:Fallback xmlns="">
      <p:transition spd="slow" advTm="7440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655AE6B0-AC9E-4167-806F-E9DB135FC4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9360" y="1382486"/>
            <a:ext cx="2660686" cy="4093028"/>
          </a:xfrm>
        </p:spPr>
        <p:txBody>
          <a:bodyPr anchor="ctr">
            <a:normAutofit/>
          </a:bodyPr>
          <a:lstStyle/>
          <a:p>
            <a:r>
              <a:rPr lang="en-CA" sz="3800"/>
              <a:t>Brute Force Mitigations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3523416A-383B-4FDC-B4C9-D8EDDFE9C0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96950" y="-8467"/>
            <a:ext cx="3575050" cy="6866467"/>
            <a:chOff x="7425267" y="-8467"/>
            <a:chExt cx="4766733" cy="6866467"/>
          </a:xfrm>
        </p:grpSpPr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CB0D29D5-3F7C-4197-821B-6D60A66CC0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rgbClr val="BFBFBF">
                  <a:alpha val="7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347FB49A-3541-428A-AADE-682A3C5056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rgbClr val="BFBFBF">
                  <a:alpha val="8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Rectangle 23">
              <a:extLst>
                <a:ext uri="{FF2B5EF4-FFF2-40B4-BE49-F238E27FC236}">
                  <a16:creationId xmlns:a16="http://schemas.microsoft.com/office/drawing/2014/main" id="{D96F53DC-08F1-42C6-B558-B83D54B276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CA"/>
            </a:p>
          </p:txBody>
        </p:sp>
        <p:sp>
          <p:nvSpPr>
            <p:cNvPr id="15" name="Rectangle 25">
              <a:extLst>
                <a:ext uri="{FF2B5EF4-FFF2-40B4-BE49-F238E27FC236}">
                  <a16:creationId xmlns:a16="http://schemas.microsoft.com/office/drawing/2014/main" id="{AFE48CAF-A51C-463F-A570-ED99439A5C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CA"/>
            </a:p>
          </p:txBody>
        </p:sp>
        <p:sp>
          <p:nvSpPr>
            <p:cNvPr id="16" name="Isosceles Triangle 15">
              <a:extLst>
                <a:ext uri="{FF2B5EF4-FFF2-40B4-BE49-F238E27FC236}">
                  <a16:creationId xmlns:a16="http://schemas.microsoft.com/office/drawing/2014/main" id="{01F0C48B-50FF-4351-8207-16D0960483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CA"/>
            </a:p>
          </p:txBody>
        </p:sp>
        <p:sp>
          <p:nvSpPr>
            <p:cNvPr id="17" name="Rectangle 27">
              <a:extLst>
                <a:ext uri="{FF2B5EF4-FFF2-40B4-BE49-F238E27FC236}">
                  <a16:creationId xmlns:a16="http://schemas.microsoft.com/office/drawing/2014/main" id="{300384B6-5ED6-4F91-A548-B706D83751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CA"/>
            </a:p>
          </p:txBody>
        </p:sp>
        <p:sp>
          <p:nvSpPr>
            <p:cNvPr id="18" name="Rectangle 28">
              <a:extLst>
                <a:ext uri="{FF2B5EF4-FFF2-40B4-BE49-F238E27FC236}">
                  <a16:creationId xmlns:a16="http://schemas.microsoft.com/office/drawing/2014/main" id="{337AFFAE-C182-463C-9459-8AB3C69D9A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CA"/>
            </a:p>
          </p:txBody>
        </p:sp>
        <p:sp>
          <p:nvSpPr>
            <p:cNvPr id="19" name="Rectangle 29">
              <a:extLst>
                <a:ext uri="{FF2B5EF4-FFF2-40B4-BE49-F238E27FC236}">
                  <a16:creationId xmlns:a16="http://schemas.microsoft.com/office/drawing/2014/main" id="{510ACF17-C3F0-42BF-BDEB-D079277121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CA"/>
            </a:p>
          </p:txBody>
        </p:sp>
        <p:sp>
          <p:nvSpPr>
            <p:cNvPr id="20" name="Isosceles Triangle 19">
              <a:extLst>
                <a:ext uri="{FF2B5EF4-FFF2-40B4-BE49-F238E27FC236}">
                  <a16:creationId xmlns:a16="http://schemas.microsoft.com/office/drawing/2014/main" id="{E804EFD0-B84E-476F-9FC6-6C4A42EA00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CA"/>
            </a:p>
          </p:txBody>
        </p:sp>
      </p:grpSp>
      <p:sp>
        <p:nvSpPr>
          <p:cNvPr id="22" name="Rectangle 21">
            <a:extLst>
              <a:ext uri="{FF2B5EF4-FFF2-40B4-BE49-F238E27FC236}">
                <a16:creationId xmlns:a16="http://schemas.microsoft.com/office/drawing/2014/main" id="{87BD1F4E-A66D-4C06-86DA-8D56CA7A3B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83289" y="0"/>
            <a:ext cx="466071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BAE41AD7-D9DE-2EA7-231F-61BC1A28BA3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70430109"/>
              </p:ext>
            </p:extLst>
          </p:nvPr>
        </p:nvGraphicFramePr>
        <p:xfrm>
          <a:off x="3687414" y="944563"/>
          <a:ext cx="4971603" cy="497958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6499"/>
    </mc:Choice>
    <mc:Fallback xmlns="">
      <p:transition spd="slow" advTm="36499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65AC7D1-EAA9-48F5-B509-60A7F50BF7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D6320AF9-619A-4175-865B-5663E1AEF4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063B6EC6-D752-4EE7-908B-F8F19E8C7F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2965032" y="0"/>
            <a:ext cx="914400" cy="6858000"/>
          </a:xfrm>
          <a:prstGeom prst="line">
            <a:avLst/>
          </a:prstGeom>
          <a:ln w="9525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EFECD4E8-AD3E-4228-82A2-9461958EA9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1599781" y="3681413"/>
            <a:ext cx="3572669" cy="3176587"/>
          </a:xfrm>
          <a:prstGeom prst="line">
            <a:avLst/>
          </a:prstGeom>
          <a:ln w="9525">
            <a:solidFill>
              <a:schemeClr val="tx1">
                <a:lumMod val="50000"/>
                <a:lumOff val="50000"/>
                <a:alpha val="8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23">
            <a:extLst>
              <a:ext uri="{FF2B5EF4-FFF2-40B4-BE49-F238E27FC236}">
                <a16:creationId xmlns:a16="http://schemas.microsoft.com/office/drawing/2014/main" id="{7E018740-5C2B-4A41-AC1A-7E68D1EC1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493473" y="-8467"/>
            <a:ext cx="2255512" cy="6866467"/>
          </a:xfrm>
          <a:custGeom>
            <a:avLst/>
            <a:gdLst/>
            <a:ahLst/>
            <a:cxnLst/>
            <a:rect l="l" t="t" r="r" b="b"/>
            <a:pathLst>
              <a:path w="3007349" h="6866467">
                <a:moveTo>
                  <a:pt x="2045532" y="0"/>
                </a:moveTo>
                <a:lnTo>
                  <a:pt x="3007349" y="0"/>
                </a:lnTo>
                <a:lnTo>
                  <a:pt x="3007349" y="6866467"/>
                </a:lnTo>
                <a:lnTo>
                  <a:pt x="0" y="6866467"/>
                </a:lnTo>
                <a:lnTo>
                  <a:pt x="2045532" y="0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CA"/>
          </a:p>
        </p:txBody>
      </p:sp>
      <p:sp>
        <p:nvSpPr>
          <p:cNvPr id="18" name="Rectangle 25">
            <a:extLst>
              <a:ext uri="{FF2B5EF4-FFF2-40B4-BE49-F238E27FC236}">
                <a16:creationId xmlns:a16="http://schemas.microsoft.com/office/drawing/2014/main" id="{166F75A4-C475-4941-8EE2-B80A06A2C1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809947" y="-8467"/>
            <a:ext cx="1941419" cy="6866467"/>
          </a:xfrm>
          <a:custGeom>
            <a:avLst/>
            <a:gdLst/>
            <a:ahLst/>
            <a:cxnLst/>
            <a:rect l="l" t="t" r="r" b="b"/>
            <a:pathLst>
              <a:path w="2573311" h="6866467">
                <a:moveTo>
                  <a:pt x="0" y="0"/>
                </a:moveTo>
                <a:lnTo>
                  <a:pt x="2573311" y="0"/>
                </a:lnTo>
                <a:lnTo>
                  <a:pt x="2573311" y="6866467"/>
                </a:lnTo>
                <a:lnTo>
                  <a:pt x="1202336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CA"/>
          </a:p>
        </p:txBody>
      </p:sp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A032553A-72E8-4B0D-8405-FF9771C9AF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306616" y="3048000"/>
            <a:ext cx="2444750" cy="3810000"/>
          </a:xfrm>
          <a:prstGeom prst="triangle">
            <a:avLst>
              <a:gd name="adj" fmla="val 100000"/>
            </a:avLst>
          </a:prstGeom>
          <a:solidFill>
            <a:schemeClr val="accent2">
              <a:alpha val="72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CA"/>
          </a:p>
        </p:txBody>
      </p:sp>
      <p:sp>
        <p:nvSpPr>
          <p:cNvPr id="22" name="Rectangle 27">
            <a:extLst>
              <a:ext uri="{FF2B5EF4-FFF2-40B4-BE49-F238E27FC236}">
                <a16:creationId xmlns:a16="http://schemas.microsoft.com/office/drawing/2014/main" id="{765800AC-C3B9-498E-87BC-29FAE4C76B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608241" y="-8467"/>
            <a:ext cx="2140744" cy="6866467"/>
          </a:xfrm>
          <a:custGeom>
            <a:avLst/>
            <a:gdLst/>
            <a:ahLst/>
            <a:cxnLst/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75000"/>
              <a:alpha val="7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CA"/>
          </a:p>
        </p:txBody>
      </p:sp>
      <p:sp>
        <p:nvSpPr>
          <p:cNvPr id="24" name="Isosceles Triangle 23">
            <a:extLst>
              <a:ext uri="{FF2B5EF4-FFF2-40B4-BE49-F238E27FC236}">
                <a16:creationId xmlns:a16="http://schemas.microsoft.com/office/drawing/2014/main" id="{1F9D6ACB-2FF4-49F9-978A-E0D5327FC6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386115" y="3589867"/>
            <a:ext cx="1362870" cy="3268133"/>
          </a:xfrm>
          <a:prstGeom prst="triangle">
            <a:avLst>
              <a:gd name="adj" fmla="val 100000"/>
            </a:avLst>
          </a:prstGeom>
          <a:solidFill>
            <a:schemeClr val="accent1">
              <a:alpha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CA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0" y="609600"/>
            <a:ext cx="2882531" cy="5175624"/>
          </a:xfrm>
        </p:spPr>
        <p:txBody>
          <a:bodyPr anchor="ctr">
            <a:normAutofit/>
          </a:bodyPr>
          <a:lstStyle/>
          <a:p>
            <a:r>
              <a:rPr lang="en-CA">
                <a:solidFill>
                  <a:schemeClr val="tx1">
                    <a:lumMod val="85000"/>
                    <a:lumOff val="15000"/>
                  </a:schemeClr>
                </a:solidFill>
              </a:rPr>
              <a:t>Conclusion</a:t>
            </a:r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142BFA2A-77A0-4F60-A32A-685681C848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11615" y="-8467"/>
            <a:ext cx="5332385" cy="6866467"/>
          </a:xfrm>
          <a:custGeom>
            <a:avLst/>
            <a:gdLst>
              <a:gd name="connsiteX0" fmla="*/ 0 w 7109846"/>
              <a:gd name="connsiteY0" fmla="*/ 0 h 6866467"/>
              <a:gd name="connsiteX1" fmla="*/ 1249825 w 7109846"/>
              <a:gd name="connsiteY1" fmla="*/ 0 h 6866467"/>
              <a:gd name="connsiteX2" fmla="*/ 1249825 w 7109846"/>
              <a:gd name="connsiteY2" fmla="*/ 8467 h 6866467"/>
              <a:gd name="connsiteX3" fmla="*/ 7109846 w 7109846"/>
              <a:gd name="connsiteY3" fmla="*/ 8467 h 6866467"/>
              <a:gd name="connsiteX4" fmla="*/ 7109846 w 7109846"/>
              <a:gd name="connsiteY4" fmla="*/ 6866467 h 6866467"/>
              <a:gd name="connsiteX5" fmla="*/ 1249825 w 7109846"/>
              <a:gd name="connsiteY5" fmla="*/ 6866467 h 6866467"/>
              <a:gd name="connsiteX6" fmla="*/ 1109382 w 7109846"/>
              <a:gd name="connsiteY6" fmla="*/ 6866467 h 68664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109846" h="6866467">
                <a:moveTo>
                  <a:pt x="0" y="0"/>
                </a:moveTo>
                <a:lnTo>
                  <a:pt x="1249825" y="0"/>
                </a:lnTo>
                <a:lnTo>
                  <a:pt x="1249825" y="8467"/>
                </a:lnTo>
                <a:lnTo>
                  <a:pt x="7109846" y="8467"/>
                </a:lnTo>
                <a:lnTo>
                  <a:pt x="7109846" y="6866467"/>
                </a:lnTo>
                <a:lnTo>
                  <a:pt x="1249825" y="6866467"/>
                </a:lnTo>
                <a:lnTo>
                  <a:pt x="1109382" y="6866467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87063" y="609601"/>
            <a:ext cx="4133472" cy="5175624"/>
          </a:xfrm>
        </p:spPr>
        <p:txBody>
          <a:bodyPr anchor="ctr"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UDP and SSH brute force are serious threats</a:t>
            </a:r>
          </a:p>
          <a:p>
            <a:r>
              <a:rPr lang="en-US">
                <a:solidFill>
                  <a:srgbClr val="FFFFFF"/>
                </a:solidFill>
              </a:rPr>
              <a:t>Mitigation: proper configs, password policies, monitoring</a:t>
            </a:r>
          </a:p>
          <a:p>
            <a:r>
              <a:rPr lang="en-US">
                <a:solidFill>
                  <a:srgbClr val="FFFFFF"/>
                </a:solidFill>
              </a:rPr>
              <a:t>Thank you!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slow" p14:dur="2000" advTm="43990"/>
    </mc:Choice>
    <mc:Fallback xmlns="">
      <p:transition spd="slow" advTm="43990"/>
    </mc:Fallback>
  </mc:AlternateContent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120</TotalTime>
  <Words>1219</Words>
  <Application>Microsoft Office PowerPoint</Application>
  <PresentationFormat>On-screen Show (4:3)</PresentationFormat>
  <Paragraphs>114</Paragraphs>
  <Slides>15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Aptos</vt:lpstr>
      <vt:lpstr>Arial</vt:lpstr>
      <vt:lpstr>Trebuchet MS</vt:lpstr>
      <vt:lpstr>Wingdings 3</vt:lpstr>
      <vt:lpstr>Facet</vt:lpstr>
      <vt:lpstr>Network Security Project</vt:lpstr>
      <vt:lpstr>UDP Port Scan</vt:lpstr>
      <vt:lpstr>Command Output</vt:lpstr>
      <vt:lpstr>Capturing UDP Packets</vt:lpstr>
      <vt:lpstr>Wireshark Packets</vt:lpstr>
      <vt:lpstr>UDP Vulnerabilities</vt:lpstr>
      <vt:lpstr>Vulnerability 1</vt:lpstr>
      <vt:lpstr>Vulnerability 2</vt:lpstr>
      <vt:lpstr>UDP Exploitation</vt:lpstr>
      <vt:lpstr>UDP Scan Mitigations</vt:lpstr>
      <vt:lpstr>SSH Brute Force Attack</vt:lpstr>
      <vt:lpstr>Hydra Password Cracking</vt:lpstr>
      <vt:lpstr>Password found </vt:lpstr>
      <vt:lpstr>Brute Force Mitigations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Vedant Jigarkumar Patel</cp:lastModifiedBy>
  <cp:revision>4</cp:revision>
  <dcterms:created xsi:type="dcterms:W3CDTF">2013-01-27T09:14:16Z</dcterms:created>
  <dcterms:modified xsi:type="dcterms:W3CDTF">2026-04-24T03:42:07Z</dcterms:modified>
  <cp:category/>
</cp:coreProperties>
</file>